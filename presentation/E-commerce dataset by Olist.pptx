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0"/>
  </p:notesMasterIdLst>
  <p:sldIdLst>
    <p:sldId id="256" r:id="rId2"/>
    <p:sldId id="285" r:id="rId3"/>
    <p:sldId id="257" r:id="rId4"/>
    <p:sldId id="284" r:id="rId5"/>
    <p:sldId id="263" r:id="rId6"/>
    <p:sldId id="262" r:id="rId7"/>
    <p:sldId id="286" r:id="rId8"/>
    <p:sldId id="274" r:id="rId9"/>
    <p:sldId id="268" r:id="rId10"/>
    <p:sldId id="269" r:id="rId11"/>
    <p:sldId id="270" r:id="rId12"/>
    <p:sldId id="271" r:id="rId13"/>
    <p:sldId id="272" r:id="rId14"/>
    <p:sldId id="273" r:id="rId15"/>
    <p:sldId id="287" r:id="rId16"/>
    <p:sldId id="267" r:id="rId17"/>
    <p:sldId id="275" r:id="rId18"/>
    <p:sldId id="276" r:id="rId19"/>
    <p:sldId id="277" r:id="rId20"/>
    <p:sldId id="259" r:id="rId21"/>
    <p:sldId id="261" r:id="rId22"/>
    <p:sldId id="260" r:id="rId23"/>
    <p:sldId id="278" r:id="rId24"/>
    <p:sldId id="279" r:id="rId25"/>
    <p:sldId id="280" r:id="rId26"/>
    <p:sldId id="281" r:id="rId27"/>
    <p:sldId id="288" r:id="rId28"/>
    <p:sldId id="282" r:id="rId29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135"/>
    <p:restoredTop sz="87053"/>
  </p:normalViewPr>
  <p:slideViewPr>
    <p:cSldViewPr snapToGrid="0">
      <p:cViewPr varScale="1">
        <p:scale>
          <a:sx n="87" d="100"/>
          <a:sy n="87" d="100"/>
        </p:scale>
        <p:origin x="952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37F3345-AAED-BB47-91A5-0C1B66DBA52B}" type="datetimeFigureOut">
              <a:rPr kumimoji="1" lang="zh-TW" altLang="en-US" smtClean="0"/>
              <a:t>2026/7/15</a:t>
            </a:fld>
            <a:endParaRPr kumimoji="1"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B786CF8-CA99-0B44-A9D0-8F3EA366CD83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42890952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786CF8-CA99-0B44-A9D0-8F3EA366CD83}" type="slidenum">
              <a:rPr kumimoji="1" lang="zh-TW" altLang="en-US" smtClean="0"/>
              <a:t>4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22703070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786CF8-CA99-0B44-A9D0-8F3EA366CD83}" type="slidenum">
              <a:rPr kumimoji="1" lang="zh-TW" altLang="en-US" smtClean="0"/>
              <a:t>5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83822734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zh-TW" dirty="0"/>
          </a:p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786CF8-CA99-0B44-A9D0-8F3EA366CD83}" type="slidenum">
              <a:rPr kumimoji="1" lang="zh-TW" altLang="en-US" smtClean="0"/>
              <a:t>6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35302241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" altLang="zh-TW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endParaRPr kumimoji="0" lang="zh-TW" altLang="en-US" sz="12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786CF8-CA99-0B44-A9D0-8F3EA366CD83}" type="slidenum">
              <a:rPr kumimoji="1" lang="zh-TW" altLang="en-US" smtClean="0"/>
              <a:t>8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61022021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786CF8-CA99-0B44-A9D0-8F3EA366CD83}" type="slidenum">
              <a:rPr kumimoji="1" lang="zh-TW" altLang="en-US" smtClean="0"/>
              <a:t>10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18288013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TW" altLang="en-US" dirty="0"/>
          </a:p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786CF8-CA99-0B44-A9D0-8F3EA366CD83}" type="slidenum">
              <a:rPr kumimoji="1" lang="zh-TW" altLang="en-US" smtClean="0"/>
              <a:t>11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410547546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786CF8-CA99-0B44-A9D0-8F3EA366CD83}" type="slidenum">
              <a:rPr kumimoji="1" lang="zh-TW" altLang="en-US" smtClean="0"/>
              <a:t>14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31424935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786CF8-CA99-0B44-A9D0-8F3EA366CD83}" type="slidenum">
              <a:rPr kumimoji="1" lang="zh-TW" altLang="en-US" smtClean="0"/>
              <a:t>22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54011002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8C71C6-E743-3D16-04E5-BF74A5FFFC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B009732F-7E88-9EDE-2CA7-6A7331F3B07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6ED50A53-21C5-A9DC-F207-F70D1A64318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1934DC4-0B9F-CFA8-5C72-62F9DBF61C6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786CF8-CA99-0B44-A9D0-8F3EA366CD83}" type="slidenum">
              <a:rPr kumimoji="1" lang="zh-TW" altLang="en-US" smtClean="0"/>
              <a:t>24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3503766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2B14440-64B2-8DBC-3FB3-D8FFAB47AE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E879B30C-EB54-4847-8CC3-8E1EBDEC588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32857641-A128-EFA2-79FE-554D6B13C9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269F81-0F69-5D49-9982-997594DEB43F}" type="datetime1">
              <a:rPr kumimoji="1" lang="zh-TW" altLang="en-US" smtClean="0"/>
              <a:t>2026/7/15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6D93DA3-A1E8-CA36-32B2-A444DA2812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4578C18C-227F-0477-E70A-5FD32684A3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3A3A4-6A86-1F48-98F8-03CAE8D7ECD4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6276075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68A9042-54DA-DC73-2EC2-B7C52F30F1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2778DBF-EA52-ADFB-9118-0A98869C5E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C5CF3EA4-BE80-91C7-BBF7-FACE75CE27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2683CE-610A-974A-A57E-1FBBEB62A8B5}" type="datetime1">
              <a:rPr kumimoji="1" lang="zh-TW" altLang="en-US" smtClean="0"/>
              <a:t>2026/7/15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886051B3-C3AA-CB37-C446-E61A58A5C8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6EFDE35E-77D3-4C1D-CBDC-98DD7EFC6E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3A3A4-6A86-1F48-98F8-03CAE8D7ECD4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6342669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ABDD39A-DC51-7488-A471-9D19EC6E47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CB86B917-04E5-F002-D8DE-66610B270F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572E53C-7E57-C539-D5E9-43B241A2CD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39CCF1-648F-0541-BA1F-2F3BF5ED3490}" type="datetime1">
              <a:rPr kumimoji="1" lang="zh-TW" altLang="en-US" smtClean="0"/>
              <a:t>2026/7/15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9E030C07-1470-906F-9D2C-18ADE26E46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B2DBA4E1-1013-5066-E02D-1B00AE7C85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3A3A4-6A86-1F48-98F8-03CAE8D7ECD4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5067910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B6E6B21-BDCA-EB7E-C98A-ED76F3DC3C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E3DBE25-BB4A-8976-B60B-799DCEF938A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3912B6CA-9197-72E6-C492-93C2A9669D5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2E96A434-FFB1-52F7-7DE7-C9148A088D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BAC624-DA32-FF48-8AD2-00A14606E15A}" type="datetime1">
              <a:rPr kumimoji="1" lang="zh-TW" altLang="en-US" smtClean="0"/>
              <a:t>2026/7/15</a:t>
            </a:fld>
            <a:endParaRPr kumimoji="1"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F0C8134D-C9B1-690C-5DED-F353B25F60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664D9E89-4712-23B4-FDFA-41CC980B9C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3A3A4-6A86-1F48-98F8-03CAE8D7ECD4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7611614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C342144-AB6A-5E4C-DE8F-44B0C53900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E03FEF6C-7C48-8C76-D5E3-111F8F7DA7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9AE7A781-786E-B69A-20CB-0C1917E9BD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6F494373-7C2E-6DEB-4A9A-451EBA3CFAF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8201E3FF-DA36-D2C5-0E8A-A473003A077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1ECDD544-0AFF-9110-4FAD-A9FF4BF5BA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C4FD5-8AF7-B343-A7A7-77F8CE9A3A47}" type="datetime1">
              <a:rPr kumimoji="1" lang="zh-TW" altLang="en-US" smtClean="0"/>
              <a:t>2026/7/15</a:t>
            </a:fld>
            <a:endParaRPr kumimoji="1"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82CF7BEA-6902-E685-8E35-37A1AF4F84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357BD320-7581-AC93-F297-B7415567A6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3A3A4-6A86-1F48-98F8-03CAE8D7ECD4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6474634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131947D-61BE-0EF2-E426-C7CC60E0CD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0FC7A9F3-9465-13A6-AD1F-80C48A4032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3F5334-3A3B-AC4A-9750-C68C8A9FCDFC}" type="datetime1">
              <a:rPr kumimoji="1" lang="zh-TW" altLang="en-US" smtClean="0"/>
              <a:t>2026/7/15</a:t>
            </a:fld>
            <a:endParaRPr kumimoji="1"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836F74A1-8B97-4CE4-9AD3-87C007FA66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0DF4C247-F0B7-374B-B7F0-47E2F00203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3A3A4-6A86-1F48-98F8-03CAE8D7ECD4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8462516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4172C8BC-111C-9320-9037-EADF183B0B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354C07-8EA1-CA48-AC52-80D18E4F4B50}" type="datetime1">
              <a:rPr kumimoji="1" lang="zh-TW" altLang="en-US" smtClean="0"/>
              <a:t>2026/7/15</a:t>
            </a:fld>
            <a:endParaRPr kumimoji="1"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202C3386-C76C-DB92-BACC-5712133A48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BFA4809D-231D-0BB3-B029-DA2AFBFB03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3A3A4-6A86-1F48-98F8-03CAE8D7ECD4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3138965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D6BB9E3-4894-4BF9-7925-0EF0D582A1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B41DEBE-4864-77A4-1041-F8A66E361D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0A16834A-3C6F-E065-46F2-0278E1BFA6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7A31DDC9-92C0-5036-1DCD-76CE00DBC0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FBBE7F-FFC1-8842-8CB6-F61A974DC824}" type="datetime1">
              <a:rPr kumimoji="1" lang="zh-TW" altLang="en-US" smtClean="0"/>
              <a:t>2026/7/15</a:t>
            </a:fld>
            <a:endParaRPr kumimoji="1"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ED9E209D-554C-16D1-2D74-935C6310F3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06B559A5-D22F-DB84-55B7-CF16809C7E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3A3A4-6A86-1F48-98F8-03CAE8D7ECD4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2462217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46457BE-7E3D-344C-0E32-BF2545BAE1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22556EAB-3A09-F739-5BFB-2B666104C88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8AA93B7E-29BD-3FF1-B21F-717666DCC7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33087AD7-BAAE-575F-D048-FD34C4CA61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1FA6CD-3C08-B34E-B52D-8EFF9560597B}" type="datetime1">
              <a:rPr kumimoji="1" lang="zh-TW" altLang="en-US" smtClean="0"/>
              <a:t>2026/7/15</a:t>
            </a:fld>
            <a:endParaRPr kumimoji="1"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73D2FF31-9B3E-C79A-2C06-5230AD477C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6991CC5F-5E0B-9EFA-829B-D9E0480505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3A3A4-6A86-1F48-98F8-03CAE8D7ECD4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5200412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1F1D172-C902-EC56-75B8-68C9868962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45FC0184-D32C-5DB6-04FC-D5ABA7CC5E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F8AB9964-07F4-51BA-2850-123C130EA4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FEE1AA-FC97-8D40-8FF8-E84557786BAA}" type="datetime1">
              <a:rPr kumimoji="1" lang="zh-TW" altLang="en-US" smtClean="0"/>
              <a:t>2026/7/15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00F63F15-35B6-0285-2194-6719AD1555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3375C85A-C140-383F-D2D4-1698085DB0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3A3A4-6A86-1F48-98F8-03CAE8D7ECD4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1173520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EC5FA824-2912-FC83-F553-9ACB0D3CC5A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483B3BDC-CBC7-3CAC-8A05-28B2BDE06D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3EA99B78-E04D-8108-41BE-E5380F4241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767C18-A470-3C41-BFEE-55F5325327A1}" type="datetime1">
              <a:rPr kumimoji="1" lang="zh-TW" altLang="en-US" smtClean="0"/>
              <a:t>2026/7/15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4040B94-FC51-4903-BD82-9AA7886D68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FC3C1081-972A-5285-73C8-DF3959869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3A3A4-6A86-1F48-98F8-03CAE8D7ECD4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1457625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D7C5E916-72B0-C7C5-71F5-7DB58F94F0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29082178-DDF1-00E2-45B1-F5846F2CF1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9DE7E9AB-D7BF-132F-8304-863AD61E8BE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8B5B6B5-72F0-E440-AC91-132213C1F540}" type="datetime1">
              <a:rPr kumimoji="1" lang="zh-TW" altLang="en-US" smtClean="0"/>
              <a:t>2026/7/15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59DB839F-F1AB-4A50-8262-C191445E0A5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23C9E0C-7208-FACC-8EE4-B4E91467FF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913A3A4-6A86-1F48-98F8-03CAE8D7ECD4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2422071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3C365BF-6174-AC04-9C45-B40CBEA1E4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5373" y="1122363"/>
            <a:ext cx="10866784" cy="2387600"/>
          </a:xfrm>
        </p:spPr>
        <p:txBody>
          <a:bodyPr>
            <a:normAutofit fontScale="90000"/>
          </a:bodyPr>
          <a:lstStyle/>
          <a:p>
            <a:r>
              <a:rPr lang="en" altLang="zh-TW" b="1" dirty="0"/>
              <a:t>Driving Repurchase Intent: </a:t>
            </a:r>
            <a:r>
              <a:rPr lang="en" altLang="zh-TW" b="1" dirty="0" err="1"/>
              <a:t>Olist</a:t>
            </a:r>
            <a:r>
              <a:rPr lang="en" altLang="zh-TW" b="1" dirty="0"/>
              <a:t> Regional Logistics &amp; Loyalty Analysis</a:t>
            </a:r>
            <a:endParaRPr kumimoji="1" lang="zh-TW" altLang="en-US" dirty="0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B642E945-E72B-A2F3-18D8-95588164A92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" altLang="zh-TW" dirty="0"/>
              <a:t>Ning-Hsiang Weng</a:t>
            </a:r>
          </a:p>
          <a:p>
            <a:r>
              <a:rPr lang="en" altLang="zh-TW" dirty="0"/>
              <a:t>Database Management: PostgreSQL</a:t>
            </a:r>
          </a:p>
          <a:p>
            <a:r>
              <a:rPr lang="en" altLang="zh-TW" dirty="0"/>
              <a:t>Data Visualization: Power BI</a:t>
            </a:r>
          </a:p>
          <a:p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77A2C66-BE7F-0B0A-7D6C-D6BE3031C5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3A3A4-6A86-1F48-98F8-03CAE8D7ECD4}" type="slidenum">
              <a:rPr kumimoji="1" lang="zh-TW" altLang="en-US" smtClean="0"/>
              <a:t>1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983084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FA74CD1-19BD-A9D3-57D4-16D2BCF5B8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" altLang="zh-TW" b="1" dirty="0">
                <a:latin typeface="Calibri" panose="020F0502020204030204" pitchFamily="34" charset="0"/>
                <a:cs typeface="Calibri" panose="020F0502020204030204" pitchFamily="34" charset="0"/>
              </a:rPr>
              <a:t>01. Dataset Overview &amp; Research Objectives</a:t>
            </a:r>
            <a:endParaRPr kumimoji="1" lang="zh-TW" altLang="en-US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BF373CB-274A-2373-A27B-4A480B36AF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3A3A4-6A86-1F48-98F8-03CAE8D7ECD4}" type="slidenum">
              <a:rPr kumimoji="1" lang="zh-TW" altLang="en-US" smtClean="0"/>
              <a:t>2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7742721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2791E1A-F452-5B38-3959-B301D7B1CD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" altLang="zh-TW" b="1" dirty="0">
                <a:latin typeface="Calibri" panose="020F0502020204030204" pitchFamily="34" charset="0"/>
                <a:cs typeface="Calibri" panose="020F0502020204030204" pitchFamily="34" charset="0"/>
              </a:rPr>
              <a:t>Dataset Overview</a:t>
            </a:r>
            <a:endParaRPr kumimoji="1" lang="zh-TW" altLang="en-US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F77EE82-CAFB-A596-A630-7E612A1766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75526"/>
            <a:ext cx="10515600" cy="4351338"/>
          </a:xfrm>
        </p:spPr>
        <p:txBody>
          <a:bodyPr>
            <a:normAutofit/>
          </a:bodyPr>
          <a:lstStyle/>
          <a:p>
            <a:r>
              <a:rPr kumimoji="1" lang="en" altLang="zh-TW" sz="2400" dirty="0">
                <a:latin typeface="Calibri" panose="020F0502020204030204" pitchFamily="34" charset="0"/>
                <a:cs typeface="Calibri" panose="020F0502020204030204" pitchFamily="34" charset="0"/>
              </a:rPr>
              <a:t>100k Real Orders: Comprehensive commercial data spanning from 2016 to 2018 across multiple marketplaces in Brazil.</a:t>
            </a:r>
          </a:p>
          <a:p>
            <a:endParaRPr kumimoji="1" lang="en" altLang="zh-TW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kumimoji="1" lang="en" altLang="zh-TW" sz="2400" dirty="0">
                <a:latin typeface="Calibri" panose="020F0502020204030204" pitchFamily="34" charset="0"/>
                <a:cs typeface="Calibri" panose="020F0502020204030204" pitchFamily="34" charset="0"/>
              </a:rPr>
              <a:t>Multi-Dimensional Features: Covers the entire e-commerce lifecycle including order status, pricing, payment methods, freight performance, and product attributes.</a:t>
            </a:r>
          </a:p>
          <a:p>
            <a:endParaRPr kumimoji="1" lang="en" altLang="zh-TW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kumimoji="1" lang="en" altLang="zh-TW" sz="2400" dirty="0">
                <a:latin typeface="Calibri" panose="020F0502020204030204" pitchFamily="34" charset="0"/>
                <a:cs typeface="Calibri" panose="020F0502020204030204" pitchFamily="34" charset="0"/>
              </a:rPr>
              <a:t>Anonymized: Real commercial data anonymized for privacy.</a:t>
            </a:r>
            <a:endParaRPr kumimoji="1" lang="zh-TW" altLang="en-US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3E24AAD-1900-821C-CE1B-A67037B084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3A3A4-6A86-1F48-98F8-03CAE8D7ECD4}" type="slidenum">
              <a:rPr kumimoji="1" lang="zh-TW" altLang="en-US" smtClean="0"/>
              <a:t>3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5618962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6025855-C9C1-0330-1D20-7433A079BE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FF547AC-F376-1EF3-7DC7-2B791454B5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3A3A4-6A86-1F48-98F8-03CAE8D7ECD4}" type="slidenum">
              <a:rPr kumimoji="1" lang="zh-TW" altLang="en-US" smtClean="0"/>
              <a:t>4</a:t>
            </a:fld>
            <a:endParaRPr kumimoji="1" lang="zh-TW" altLang="en-US"/>
          </a:p>
        </p:txBody>
      </p:sp>
      <p:pic>
        <p:nvPicPr>
          <p:cNvPr id="5" name="圖片 4" descr="一張含有 文字, 字型, 螢幕擷取畫面, 設計 的圖片&#10;&#10;AI 產生的內容可能不正確。">
            <a:extLst>
              <a:ext uri="{FF2B5EF4-FFF2-40B4-BE49-F238E27FC236}">
                <a16:creationId xmlns:a16="http://schemas.microsoft.com/office/drawing/2014/main" id="{2DF8E82E-CDBA-480F-4495-9B2330C85E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3644" y="0"/>
            <a:ext cx="9504711" cy="6910281"/>
          </a:xfrm>
          <a:prstGeom prst="rect">
            <a:avLst/>
          </a:prstGeom>
        </p:spPr>
      </p:pic>
      <p:sp>
        <p:nvSpPr>
          <p:cNvPr id="7" name="文字方塊 6">
            <a:extLst>
              <a:ext uri="{FF2B5EF4-FFF2-40B4-BE49-F238E27FC236}">
                <a16:creationId xmlns:a16="http://schemas.microsoft.com/office/drawing/2014/main" id="{BE14190C-19C8-A442-EBFD-24D8CE0CE259}"/>
              </a:ext>
            </a:extLst>
          </p:cNvPr>
          <p:cNvSpPr txBox="1"/>
          <p:nvPr/>
        </p:nvSpPr>
        <p:spPr>
          <a:xfrm>
            <a:off x="2150087" y="1626493"/>
            <a:ext cx="62059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TW" sz="1400" dirty="0">
                <a:solidFill>
                  <a:srgbClr val="FF0000"/>
                </a:solidFill>
              </a:rPr>
              <a:t>PK</a:t>
            </a: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027B7401-8CE3-AF11-06D5-ADC1C89556F5}"/>
              </a:ext>
            </a:extLst>
          </p:cNvPr>
          <p:cNvSpPr txBox="1"/>
          <p:nvPr/>
        </p:nvSpPr>
        <p:spPr>
          <a:xfrm>
            <a:off x="3577122" y="1552188"/>
            <a:ext cx="62059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TW" sz="1200" dirty="0">
                <a:solidFill>
                  <a:srgbClr val="FF0000"/>
                </a:solidFill>
              </a:rPr>
              <a:t>FK</a:t>
            </a:r>
            <a:endParaRPr kumimoji="1" lang="zh-TW" altLang="en-US" sz="1200" dirty="0">
              <a:solidFill>
                <a:srgbClr val="FF0000"/>
              </a:solidFill>
            </a:endParaRP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2D26555E-A545-D631-AF04-3134592BCD02}"/>
              </a:ext>
            </a:extLst>
          </p:cNvPr>
          <p:cNvSpPr txBox="1"/>
          <p:nvPr/>
        </p:nvSpPr>
        <p:spPr>
          <a:xfrm>
            <a:off x="8984771" y="3217319"/>
            <a:ext cx="104094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TW" sz="1200" dirty="0">
                <a:solidFill>
                  <a:srgbClr val="FF0000"/>
                </a:solidFill>
              </a:rPr>
              <a:t>PK &amp; FK</a:t>
            </a:r>
            <a:endParaRPr kumimoji="1" lang="zh-TW" altLang="en-US" sz="1200" dirty="0">
              <a:solidFill>
                <a:srgbClr val="FF0000"/>
              </a:solidFill>
            </a:endParaRPr>
          </a:p>
          <a:p>
            <a:endParaRPr kumimoji="1" lang="en-US" altLang="zh-TW" sz="1200" dirty="0">
              <a:solidFill>
                <a:srgbClr val="FF0000"/>
              </a:solidFill>
            </a:endParaRP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8A27C70A-15D4-C2C6-10EB-96770B121F20}"/>
              </a:ext>
            </a:extLst>
          </p:cNvPr>
          <p:cNvSpPr txBox="1"/>
          <p:nvPr/>
        </p:nvSpPr>
        <p:spPr>
          <a:xfrm>
            <a:off x="2257864" y="3116992"/>
            <a:ext cx="38542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TW" sz="1200" dirty="0">
                <a:solidFill>
                  <a:srgbClr val="FF0000"/>
                </a:solidFill>
              </a:rPr>
              <a:t>PK</a:t>
            </a: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25E10A25-5300-97CD-818F-A0072A1F5D9E}"/>
              </a:ext>
            </a:extLst>
          </p:cNvPr>
          <p:cNvSpPr txBox="1"/>
          <p:nvPr/>
        </p:nvSpPr>
        <p:spPr>
          <a:xfrm>
            <a:off x="3371516" y="3344736"/>
            <a:ext cx="62059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TW" sz="1200" dirty="0">
                <a:solidFill>
                  <a:srgbClr val="FF0000"/>
                </a:solidFill>
              </a:rPr>
              <a:t>FK</a:t>
            </a:r>
            <a:endParaRPr kumimoji="1" lang="zh-TW" altLang="en-US" sz="1200" dirty="0">
              <a:solidFill>
                <a:srgbClr val="FF0000"/>
              </a:solidFill>
            </a:endParaRPr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C10A2496-3033-0A54-F254-31AE4C528533}"/>
              </a:ext>
            </a:extLst>
          </p:cNvPr>
          <p:cNvSpPr txBox="1"/>
          <p:nvPr/>
        </p:nvSpPr>
        <p:spPr>
          <a:xfrm>
            <a:off x="4447491" y="3190847"/>
            <a:ext cx="62059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TW" sz="1400" dirty="0">
                <a:solidFill>
                  <a:srgbClr val="FF0000"/>
                </a:solidFill>
              </a:rPr>
              <a:t>PK</a:t>
            </a:r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24B269DE-84E3-13F8-2E60-A4A922ED31E0}"/>
              </a:ext>
            </a:extLst>
          </p:cNvPr>
          <p:cNvSpPr txBox="1"/>
          <p:nvPr/>
        </p:nvSpPr>
        <p:spPr>
          <a:xfrm>
            <a:off x="6748991" y="3221625"/>
            <a:ext cx="38542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TW" sz="1200" dirty="0">
                <a:solidFill>
                  <a:srgbClr val="FF0000"/>
                </a:solidFill>
              </a:rPr>
              <a:t>PK</a:t>
            </a:r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AF8F8ED5-268E-2153-E00C-BF17E3C03934}"/>
              </a:ext>
            </a:extLst>
          </p:cNvPr>
          <p:cNvSpPr txBox="1"/>
          <p:nvPr/>
        </p:nvSpPr>
        <p:spPr>
          <a:xfrm>
            <a:off x="2188362" y="5207466"/>
            <a:ext cx="38542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TW" sz="1200" dirty="0">
                <a:solidFill>
                  <a:srgbClr val="FF0000"/>
                </a:solidFill>
              </a:rPr>
              <a:t>PK</a:t>
            </a:r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7BD72964-094E-3663-C9E6-6DC5852D8A71}"/>
              </a:ext>
            </a:extLst>
          </p:cNvPr>
          <p:cNvSpPr txBox="1"/>
          <p:nvPr/>
        </p:nvSpPr>
        <p:spPr>
          <a:xfrm>
            <a:off x="5709685" y="3116993"/>
            <a:ext cx="62059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TW" sz="1200" dirty="0">
                <a:solidFill>
                  <a:srgbClr val="FF0000"/>
                </a:solidFill>
              </a:rPr>
              <a:t>FK</a:t>
            </a:r>
            <a:endParaRPr kumimoji="1" lang="zh-TW" altLang="en-US" sz="1200" dirty="0">
              <a:solidFill>
                <a:srgbClr val="FF0000"/>
              </a:solidFill>
            </a:endParaRPr>
          </a:p>
        </p:txBody>
      </p: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7024AAEE-D199-ACE5-587F-589AB99966C2}"/>
              </a:ext>
            </a:extLst>
          </p:cNvPr>
          <p:cNvSpPr txBox="1"/>
          <p:nvPr/>
        </p:nvSpPr>
        <p:spPr>
          <a:xfrm>
            <a:off x="5709685" y="3678984"/>
            <a:ext cx="62059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TW" sz="1200" dirty="0">
                <a:solidFill>
                  <a:srgbClr val="FF0000"/>
                </a:solidFill>
              </a:rPr>
              <a:t>FK</a:t>
            </a:r>
            <a:endParaRPr kumimoji="1" lang="zh-TW" altLang="en-US" sz="1200" dirty="0">
              <a:solidFill>
                <a:srgbClr val="FF0000"/>
              </a:solidFill>
            </a:endParaRPr>
          </a:p>
        </p:txBody>
      </p: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1C011D55-E437-B2AB-9BC4-D078EF7722B7}"/>
              </a:ext>
            </a:extLst>
          </p:cNvPr>
          <p:cNvSpPr txBox="1"/>
          <p:nvPr/>
        </p:nvSpPr>
        <p:spPr>
          <a:xfrm>
            <a:off x="5709685" y="3464009"/>
            <a:ext cx="62059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TW" sz="1200" dirty="0">
                <a:solidFill>
                  <a:srgbClr val="FF0000"/>
                </a:solidFill>
              </a:rPr>
              <a:t>FK</a:t>
            </a:r>
            <a:endParaRPr kumimoji="1" lang="zh-TW" altLang="en-US" sz="1200" dirty="0">
              <a:solidFill>
                <a:srgbClr val="FF0000"/>
              </a:solidFill>
            </a:endParaRPr>
          </a:p>
        </p:txBody>
      </p:sp>
      <p:sp>
        <p:nvSpPr>
          <p:cNvPr id="19" name="文字方塊 18">
            <a:extLst>
              <a:ext uri="{FF2B5EF4-FFF2-40B4-BE49-F238E27FC236}">
                <a16:creationId xmlns:a16="http://schemas.microsoft.com/office/drawing/2014/main" id="{89A7A446-7751-743E-0CE7-31078DC2B165}"/>
              </a:ext>
            </a:extLst>
          </p:cNvPr>
          <p:cNvSpPr txBox="1"/>
          <p:nvPr/>
        </p:nvSpPr>
        <p:spPr>
          <a:xfrm>
            <a:off x="4557564" y="782427"/>
            <a:ext cx="38542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TW" sz="1200" dirty="0">
                <a:solidFill>
                  <a:srgbClr val="FF0000"/>
                </a:solidFill>
              </a:rPr>
              <a:t>PK</a:t>
            </a:r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E8460DED-3FF3-58BD-D8CD-3E6DF301D203}"/>
              </a:ext>
            </a:extLst>
          </p:cNvPr>
          <p:cNvSpPr txBox="1"/>
          <p:nvPr/>
        </p:nvSpPr>
        <p:spPr>
          <a:xfrm>
            <a:off x="5875231" y="966030"/>
            <a:ext cx="62059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TW" sz="1200" dirty="0">
                <a:solidFill>
                  <a:srgbClr val="FF0000"/>
                </a:solidFill>
              </a:rPr>
              <a:t>FK</a:t>
            </a:r>
            <a:endParaRPr kumimoji="1" lang="zh-TW" altLang="en-US" sz="1200" dirty="0">
              <a:solidFill>
                <a:srgbClr val="FF0000"/>
              </a:solidFill>
            </a:endParaRPr>
          </a:p>
        </p:txBody>
      </p:sp>
      <p:sp>
        <p:nvSpPr>
          <p:cNvPr id="21" name="文字方塊 20">
            <a:extLst>
              <a:ext uri="{FF2B5EF4-FFF2-40B4-BE49-F238E27FC236}">
                <a16:creationId xmlns:a16="http://schemas.microsoft.com/office/drawing/2014/main" id="{6E662359-BA68-8043-EB78-D83E0EA3A775}"/>
              </a:ext>
            </a:extLst>
          </p:cNvPr>
          <p:cNvSpPr txBox="1"/>
          <p:nvPr/>
        </p:nvSpPr>
        <p:spPr>
          <a:xfrm>
            <a:off x="4553346" y="5315188"/>
            <a:ext cx="62059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TW" sz="1400" dirty="0">
                <a:solidFill>
                  <a:srgbClr val="FF0000"/>
                </a:solidFill>
              </a:rPr>
              <a:t>PK</a:t>
            </a:r>
          </a:p>
        </p:txBody>
      </p:sp>
      <p:sp>
        <p:nvSpPr>
          <p:cNvPr id="22" name="文字方塊 21">
            <a:extLst>
              <a:ext uri="{FF2B5EF4-FFF2-40B4-BE49-F238E27FC236}">
                <a16:creationId xmlns:a16="http://schemas.microsoft.com/office/drawing/2014/main" id="{6F5F4834-6A9F-849C-1F37-6343072E17ED}"/>
              </a:ext>
            </a:extLst>
          </p:cNvPr>
          <p:cNvSpPr txBox="1"/>
          <p:nvPr/>
        </p:nvSpPr>
        <p:spPr>
          <a:xfrm>
            <a:off x="5673608" y="5469076"/>
            <a:ext cx="62059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TW" sz="1200" dirty="0">
                <a:solidFill>
                  <a:srgbClr val="FF0000"/>
                </a:solidFill>
              </a:rPr>
              <a:t>FK</a:t>
            </a:r>
            <a:endParaRPr kumimoji="1" lang="zh-TW" altLang="en-US" sz="1200" dirty="0">
              <a:solidFill>
                <a:srgbClr val="FF0000"/>
              </a:solidFill>
            </a:endParaRPr>
          </a:p>
        </p:txBody>
      </p: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1AB40457-A7FB-9DC4-2F5A-FF102345DAF3}"/>
              </a:ext>
            </a:extLst>
          </p:cNvPr>
          <p:cNvSpPr txBox="1"/>
          <p:nvPr/>
        </p:nvSpPr>
        <p:spPr>
          <a:xfrm>
            <a:off x="6696126" y="4756124"/>
            <a:ext cx="178285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TW" sz="1200" dirty="0">
                <a:solidFill>
                  <a:srgbClr val="FF0000"/>
                </a:solidFill>
              </a:rPr>
              <a:t>PK: </a:t>
            </a:r>
            <a:r>
              <a:rPr lang="en" altLang="zh-TW" sz="1200" dirty="0" err="1"/>
              <a:t>geolocation_id</a:t>
            </a:r>
            <a:r>
              <a:rPr kumimoji="1" lang="en-US" altLang="zh-TW" sz="1200" dirty="0">
                <a:solidFill>
                  <a:srgbClr val="FF0000"/>
                </a:solidFill>
              </a:rPr>
              <a:t> </a:t>
            </a:r>
          </a:p>
        </p:txBody>
      </p:sp>
      <p:sp>
        <p:nvSpPr>
          <p:cNvPr id="29" name="文字方塊 28">
            <a:extLst>
              <a:ext uri="{FF2B5EF4-FFF2-40B4-BE49-F238E27FC236}">
                <a16:creationId xmlns:a16="http://schemas.microsoft.com/office/drawing/2014/main" id="{46FC7DCE-11C0-40B1-6A9B-113DF99164A1}"/>
              </a:ext>
            </a:extLst>
          </p:cNvPr>
          <p:cNvSpPr txBox="1"/>
          <p:nvPr/>
        </p:nvSpPr>
        <p:spPr>
          <a:xfrm>
            <a:off x="6696126" y="766446"/>
            <a:ext cx="38542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TW" sz="1200" dirty="0">
                <a:solidFill>
                  <a:srgbClr val="FF0000"/>
                </a:solidFill>
              </a:rPr>
              <a:t>PK</a:t>
            </a:r>
          </a:p>
        </p:txBody>
      </p:sp>
      <p:sp>
        <p:nvSpPr>
          <p:cNvPr id="30" name="文字方塊 29">
            <a:extLst>
              <a:ext uri="{FF2B5EF4-FFF2-40B4-BE49-F238E27FC236}">
                <a16:creationId xmlns:a16="http://schemas.microsoft.com/office/drawing/2014/main" id="{8749423A-DF26-A033-B530-62EC1291270A}"/>
              </a:ext>
            </a:extLst>
          </p:cNvPr>
          <p:cNvSpPr txBox="1"/>
          <p:nvPr/>
        </p:nvSpPr>
        <p:spPr>
          <a:xfrm>
            <a:off x="9119823" y="1829187"/>
            <a:ext cx="38542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TW" sz="1200" dirty="0">
                <a:solidFill>
                  <a:srgbClr val="FF0000"/>
                </a:solidFill>
              </a:rPr>
              <a:t>PK</a:t>
            </a:r>
          </a:p>
        </p:txBody>
      </p:sp>
    </p:spTree>
    <p:extLst>
      <p:ext uri="{BB962C8B-B14F-4D97-AF65-F5344CB8AC3E}">
        <p14:creationId xmlns:p14="http://schemas.microsoft.com/office/powerpoint/2010/main" val="16330641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AE1FECB-1AE1-5AB0-60B7-D35F2ACCE2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en" altLang="zh-TW" b="1" dirty="0">
                <a:latin typeface="Calibri" panose="020F0502020204030204" pitchFamily="34" charset="0"/>
                <a:cs typeface="Calibri" panose="020F0502020204030204" pitchFamily="34" charset="0"/>
              </a:rPr>
              <a:t>Motivation: </a:t>
            </a:r>
            <a:br>
              <a:rPr kumimoji="1" lang="en" altLang="zh-TW" b="1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kumimoji="1" lang="en" altLang="zh-TW" b="1" dirty="0">
                <a:latin typeface="Calibri" panose="020F0502020204030204" pitchFamily="34" charset="0"/>
                <a:cs typeface="Calibri" panose="020F0502020204030204" pitchFamily="34" charset="0"/>
              </a:rPr>
              <a:t>Low Repeat Purchase and State-Level Variation</a:t>
            </a:r>
            <a:endParaRPr kumimoji="1" lang="zh-TW" altLang="en-US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D14DBC6-A2F0-E1CA-5D39-15567AE5F7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en" altLang="zh-TW" sz="2400" dirty="0">
                <a:latin typeface="Calibri" panose="020F0502020204030204" pitchFamily="34" charset="0"/>
                <a:cs typeface="Calibri" panose="020F0502020204030204" pitchFamily="34" charset="0"/>
              </a:rPr>
              <a:t>Key Observation: Strong One-Time Purchase Pattern</a:t>
            </a:r>
          </a:p>
          <a:p>
            <a:pPr marL="0" indent="0">
              <a:buNone/>
            </a:pPr>
            <a:r>
              <a:rPr kumimoji="1" lang="en" altLang="zh-TW" sz="2400" dirty="0">
                <a:latin typeface="Calibri" panose="020F0502020204030204" pitchFamily="34" charset="0"/>
                <a:cs typeface="Calibri" panose="020F0502020204030204" pitchFamily="34" charset="0"/>
              </a:rPr>
              <a:t>3.12% Repeat Purchase Rate: Only 3k out of 96k unique customers reordered (Avg. 1.03 orders/customer).</a:t>
            </a:r>
          </a:p>
          <a:p>
            <a:endParaRPr kumimoji="1" lang="en" altLang="zh-TW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endParaRPr kumimoji="1" lang="en" altLang="zh-TW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kumimoji="1" lang="en" altLang="zh-TW" sz="2400" dirty="0">
                <a:latin typeface="Calibri" panose="020F0502020204030204" pitchFamily="34" charset="0"/>
                <a:cs typeface="Calibri" panose="020F0502020204030204" pitchFamily="34" charset="0"/>
              </a:rPr>
              <a:t>Regional Retention Variance: Repeat purchase rates vary significantly by customer's main state.</a:t>
            </a:r>
            <a:endParaRPr kumimoji="1" lang="zh-TW" altLang="en-US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417F206C-53C5-B1C2-AE6F-BC4AE702BF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0965" y="3130248"/>
            <a:ext cx="11208327" cy="597503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B9FD2AA3-13F1-83EB-9238-985F9FC8DBD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5032374"/>
            <a:ext cx="11022767" cy="986652"/>
          </a:xfrm>
          <a:prstGeom prst="rect">
            <a:avLst/>
          </a:prstGeom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730D9662-8C33-C03A-7188-C29F62CC00DD}"/>
              </a:ext>
            </a:extLst>
          </p:cNvPr>
          <p:cNvSpPr/>
          <p:nvPr/>
        </p:nvSpPr>
        <p:spPr>
          <a:xfrm>
            <a:off x="7195278" y="3130248"/>
            <a:ext cx="2188564" cy="57923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9F72D99-13B1-F4F2-FE90-3F084D439E5F}"/>
              </a:ext>
            </a:extLst>
          </p:cNvPr>
          <p:cNvSpPr/>
          <p:nvPr/>
        </p:nvSpPr>
        <p:spPr>
          <a:xfrm>
            <a:off x="838200" y="5032374"/>
            <a:ext cx="4813092" cy="98665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0D172B28-ED0D-043A-0D7F-DD26E57665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3A3A4-6A86-1F48-98F8-03CAE8D7ECD4}" type="slidenum">
              <a:rPr kumimoji="1" lang="zh-TW" altLang="en-US" smtClean="0"/>
              <a:t>5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1307362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EF9C3F7-6BE6-16EF-5CD2-D4C21084F1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" altLang="zh-TW" b="1" dirty="0">
                <a:latin typeface="Calibri" panose="020F0502020204030204" pitchFamily="34" charset="0"/>
                <a:cs typeface="Calibri" panose="020F0502020204030204" pitchFamily="34" charset="0"/>
              </a:rPr>
              <a:t>State-Level Logistics &amp; Customer Retention Analysis</a:t>
            </a:r>
            <a:endParaRPr kumimoji="1" lang="zh-TW" altLang="en-US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EDF10FB1-B288-FFEF-5F35-3852CE8E45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88102" y="1918845"/>
            <a:ext cx="10515600" cy="4351338"/>
          </a:xfrm>
        </p:spPr>
        <p:txBody>
          <a:bodyPr>
            <a:normAutofit lnSpcReduction="100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kumimoji="1" lang="en-US" altLang="zh-TW" sz="2400" b="1" dirty="0">
                <a:latin typeface="Calibri" panose="020F0502020204030204" pitchFamily="34" charset="0"/>
                <a:cs typeface="Calibri" panose="020F0502020204030204" pitchFamily="34" charset="0"/>
              </a:rPr>
              <a:t>Aim:</a:t>
            </a:r>
          </a:p>
          <a:p>
            <a:pPr>
              <a:lnSpc>
                <a:spcPct val="150000"/>
              </a:lnSpc>
            </a:pPr>
            <a:r>
              <a:rPr kumimoji="1" lang="en" altLang="zh-TW" sz="2400" b="1" dirty="0">
                <a:latin typeface="Calibri" panose="020F0502020204030204" pitchFamily="34" charset="0"/>
                <a:cs typeface="Calibri" panose="020F0502020204030204" pitchFamily="34" charset="0"/>
              </a:rPr>
              <a:t>Analyze Retention Drivers</a:t>
            </a:r>
            <a:r>
              <a:rPr kumimoji="1" lang="en" altLang="zh-TW" sz="2400" dirty="0">
                <a:latin typeface="Calibri" panose="020F0502020204030204" pitchFamily="34" charset="0"/>
                <a:cs typeface="Calibri" panose="020F0502020204030204" pitchFamily="34" charset="0"/>
              </a:rPr>
              <a:t>: </a:t>
            </a:r>
          </a:p>
          <a:p>
            <a:pPr marL="0" indent="0">
              <a:lnSpc>
                <a:spcPct val="150000"/>
              </a:lnSpc>
              <a:buNone/>
            </a:pPr>
            <a:r>
              <a:rPr kumimoji="1" lang="en" altLang="zh-TW" sz="2400" dirty="0">
                <a:latin typeface="Calibri" panose="020F0502020204030204" pitchFamily="34" charset="0"/>
                <a:cs typeface="Calibri" panose="020F0502020204030204" pitchFamily="34" charset="0"/>
              </a:rPr>
              <a:t>Evaluate if freight costs, cross-state shipping, delivery times, and review scores impact regional repeat purchases.</a:t>
            </a:r>
          </a:p>
          <a:p>
            <a:pPr>
              <a:lnSpc>
                <a:spcPct val="150000"/>
              </a:lnSpc>
            </a:pPr>
            <a:r>
              <a:rPr kumimoji="1" lang="en" altLang="zh-TW" sz="2400" b="1" dirty="0">
                <a:latin typeface="Calibri" panose="020F0502020204030204" pitchFamily="34" charset="0"/>
                <a:cs typeface="Calibri" panose="020F0502020204030204" pitchFamily="34" charset="0"/>
              </a:rPr>
              <a:t>Optimize Operations</a:t>
            </a:r>
            <a:r>
              <a:rPr kumimoji="1" lang="en" altLang="zh-TW" sz="2400" dirty="0">
                <a:latin typeface="Calibri" panose="020F0502020204030204" pitchFamily="34" charset="0"/>
                <a:cs typeface="Calibri" panose="020F0502020204030204" pitchFamily="34" charset="0"/>
              </a:rPr>
              <a:t>: </a:t>
            </a:r>
          </a:p>
          <a:p>
            <a:pPr marL="0" indent="0">
              <a:lnSpc>
                <a:spcPct val="150000"/>
              </a:lnSpc>
              <a:buNone/>
            </a:pPr>
            <a:r>
              <a:rPr kumimoji="1" lang="en" altLang="zh-TW" sz="2400" dirty="0">
                <a:latin typeface="Calibri" panose="020F0502020204030204" pitchFamily="34" charset="0"/>
                <a:cs typeface="Calibri" panose="020F0502020204030204" pitchFamily="34" charset="0"/>
              </a:rPr>
              <a:t>Identify logistical and satisfaction pain points to improve customer retention and strategy.</a:t>
            </a:r>
          </a:p>
          <a:p>
            <a:endParaRPr kumimoji="1" lang="zh-TW" altLang="en-US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B0656E0-9595-48F6-F2C0-AA1C51011E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3A3A4-6A86-1F48-98F8-03CAE8D7ECD4}" type="slidenum">
              <a:rPr kumimoji="1" lang="zh-TW" altLang="en-US" smtClean="0"/>
              <a:t>6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753975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167617-4050-3C3D-1E85-30980633DE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1E2170F-C085-7E8F-C3F2-18CC4E8742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" altLang="zh-TW" b="1" dirty="0">
                <a:latin typeface="Calibri" panose="020F0502020204030204" pitchFamily="34" charset="0"/>
                <a:cs typeface="Calibri" panose="020F0502020204030204" pitchFamily="34" charset="0"/>
              </a:rPr>
              <a:t>02. Data Preparation &amp; Cohort Selection</a:t>
            </a:r>
            <a:endParaRPr kumimoji="1" lang="zh-TW" altLang="en-US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6120310-2562-6AFF-A541-7242ADA7F5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3A3A4-6A86-1F48-98F8-03CAE8D7ECD4}" type="slidenum">
              <a:rPr kumimoji="1" lang="zh-TW" altLang="en-US" smtClean="0"/>
              <a:t>7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6347580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911024E-A73A-AC1F-9980-366C7C3AEE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223" y="64070"/>
            <a:ext cx="4110486" cy="1325563"/>
          </a:xfrm>
        </p:spPr>
        <p:txBody>
          <a:bodyPr/>
          <a:lstStyle/>
          <a:p>
            <a:r>
              <a:rPr lang="en" altLang="zh-TW" b="1" dirty="0">
                <a:latin typeface="Calibri" panose="020F0502020204030204" pitchFamily="34" charset="0"/>
                <a:cs typeface="Calibri" panose="020F0502020204030204" pitchFamily="34" charset="0"/>
              </a:rPr>
              <a:t>Data Pipeline</a:t>
            </a:r>
            <a:endParaRPr kumimoji="1" lang="zh-TW" altLang="en-US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6BE959D-53CE-45E5-6C7A-01853841E6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3A3A4-6A86-1F48-98F8-03CAE8D7ECD4}" type="slidenum">
              <a:rPr kumimoji="1" lang="zh-TW" altLang="en-US" smtClean="0"/>
              <a:t>8</a:t>
            </a:fld>
            <a:endParaRPr kumimoji="1" lang="zh-TW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1BC2AF3D-6253-EC07-4CE9-254E7F2FC389}"/>
              </a:ext>
            </a:extLst>
          </p:cNvPr>
          <p:cNvSpPr/>
          <p:nvPr/>
        </p:nvSpPr>
        <p:spPr>
          <a:xfrm>
            <a:off x="4880583" y="136525"/>
            <a:ext cx="3937489" cy="532574"/>
          </a:xfrm>
          <a:prstGeom prst="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altLang="zh-TW" sz="1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Calibri" panose="020F0502020204030204" pitchFamily="34" charset="0"/>
              </a:rPr>
              <a:t>Raw </a:t>
            </a:r>
            <a:r>
              <a:rPr kumimoji="0" lang="en" altLang="zh-TW" sz="18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Calibri" panose="020F0502020204030204" pitchFamily="34" charset="0"/>
              </a:rPr>
              <a:t>Olist</a:t>
            </a:r>
            <a:r>
              <a:rPr kumimoji="0" lang="en" altLang="zh-TW" sz="1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Calibri" panose="020F0502020204030204" pitchFamily="34" charset="0"/>
              </a:rPr>
              <a:t> Dataset </a:t>
            </a:r>
            <a:r>
              <a:rPr kumimoji="0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Calibri" panose="020F0502020204030204" pitchFamily="34" charset="0"/>
              </a:rPr>
              <a:t>(</a:t>
            </a:r>
            <a:r>
              <a:rPr kumimoji="0" lang="en" altLang="zh-TW" sz="1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Calibri" panose="020F0502020204030204" pitchFamily="34" charset="0"/>
              </a:rPr>
              <a:t>N = 99441 orders</a:t>
            </a:r>
            <a:r>
              <a:rPr kumimoji="0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Calibri" panose="020F0502020204030204" pitchFamily="34" charset="0"/>
              </a:rPr>
              <a:t>)</a:t>
            </a:r>
            <a:endParaRPr kumimoji="0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 pitchFamily="34" charset="0"/>
              <a:ea typeface="新細明體" panose="02020500000000000000" pitchFamily="18" charset="-120"/>
              <a:cs typeface="Calibri" panose="020F0502020204030204" pitchFamily="34" charset="0"/>
            </a:endParaRPr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D8997B3A-B570-0862-3075-77F56A3077E6}"/>
              </a:ext>
            </a:extLst>
          </p:cNvPr>
          <p:cNvSpPr txBox="1"/>
          <p:nvPr/>
        </p:nvSpPr>
        <p:spPr>
          <a:xfrm>
            <a:off x="7104492" y="687816"/>
            <a:ext cx="292004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altLang="zh-TW" dirty="0">
                <a:latin typeface="Calibri" panose="020F0502020204030204" pitchFamily="34" charset="0"/>
                <a:cs typeface="Calibri" panose="020F0502020204030204" pitchFamily="34" charset="0"/>
              </a:rPr>
              <a:t>Filter by Order Status</a:t>
            </a:r>
            <a:endParaRPr lang="zh-TW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9" name="文字方塊 18">
            <a:extLst>
              <a:ext uri="{FF2B5EF4-FFF2-40B4-BE49-F238E27FC236}">
                <a16:creationId xmlns:a16="http://schemas.microsoft.com/office/drawing/2014/main" id="{FC6B5341-21B6-9521-DC3E-5E8B428C775A}"/>
              </a:ext>
            </a:extLst>
          </p:cNvPr>
          <p:cNvSpPr txBox="1"/>
          <p:nvPr/>
        </p:nvSpPr>
        <p:spPr>
          <a:xfrm>
            <a:off x="7104493" y="1704771"/>
            <a:ext cx="28015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altLang="zh-TW" dirty="0">
                <a:latin typeface="Calibri" panose="020F0502020204030204" pitchFamily="34" charset="0"/>
                <a:cs typeface="Calibri" panose="020F0502020204030204" pitchFamily="34" charset="0"/>
              </a:rPr>
              <a:t>Customer Roll-up</a:t>
            </a:r>
            <a:endParaRPr lang="zh-TW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296A009C-B619-5AF9-6613-3FD585B73F17}"/>
              </a:ext>
            </a:extLst>
          </p:cNvPr>
          <p:cNvSpPr txBox="1"/>
          <p:nvPr/>
        </p:nvSpPr>
        <p:spPr>
          <a:xfrm>
            <a:off x="7104492" y="2685778"/>
            <a:ext cx="341213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dirty="0">
                <a:latin typeface="Calibri" panose="020F0502020204030204" pitchFamily="34" charset="0"/>
                <a:cs typeface="Calibri" panose="020F0502020204030204" pitchFamily="34" charset="0"/>
              </a:rPr>
              <a:t>Cohort Observation Window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3F654FC3-2E2F-65D6-F86F-A66B0499550C}"/>
              </a:ext>
            </a:extLst>
          </p:cNvPr>
          <p:cNvSpPr/>
          <p:nvPr/>
        </p:nvSpPr>
        <p:spPr>
          <a:xfrm>
            <a:off x="3543233" y="1109387"/>
            <a:ext cx="6612189" cy="532574"/>
          </a:xfrm>
          <a:prstGeom prst="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altLang="zh-TW" sz="18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Calibri" panose="020F0502020204030204" pitchFamily="34" charset="0"/>
              </a:rPr>
              <a:t>Step 1. </a:t>
            </a:r>
            <a:r>
              <a:rPr kumimoji="0" lang="en" altLang="zh-TW" sz="1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Calibri" panose="020F0502020204030204" pitchFamily="34" charset="0"/>
              </a:rPr>
              <a:t>Effective Orders Only </a:t>
            </a:r>
            <a:r>
              <a:rPr kumimoji="0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Calibri" panose="020F0502020204030204" pitchFamily="34" charset="0"/>
              </a:rPr>
              <a:t>(</a:t>
            </a:r>
            <a:r>
              <a:rPr kumimoji="0" lang="en" altLang="zh-TW" sz="1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Calibri" panose="020F0502020204030204" pitchFamily="34" charset="0"/>
              </a:rPr>
              <a:t>N = 96478 orders</a:t>
            </a:r>
            <a:r>
              <a:rPr kumimoji="0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Calibri" panose="020F0502020204030204" pitchFamily="34" charset="0"/>
              </a:rPr>
              <a:t>)</a:t>
            </a:r>
            <a:endParaRPr kumimoji="0" lang="en" altLang="zh-TW" sz="1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 pitchFamily="34" charset="0"/>
              <a:ea typeface="新細明體" panose="02020500000000000000" pitchFamily="18" charset="-120"/>
              <a:cs typeface="Calibri" panose="020F050202020403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altLang="zh-TW" sz="1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Calibri" panose="020F0502020204030204" pitchFamily="34" charset="0"/>
              </a:rPr>
              <a:t>Retained: 'delivered' status only (97.02%)</a:t>
            </a:r>
            <a:endParaRPr kumimoji="0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 pitchFamily="34" charset="0"/>
              <a:ea typeface="新細明體" panose="02020500000000000000" pitchFamily="18" charset="-120"/>
              <a:cs typeface="Calibri" panose="020F0502020204030204" pitchFamily="34" charset="0"/>
            </a:endParaRP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AF396976-5D5D-945B-EE4B-C5222AA8A571}"/>
              </a:ext>
            </a:extLst>
          </p:cNvPr>
          <p:cNvSpPr/>
          <p:nvPr/>
        </p:nvSpPr>
        <p:spPr>
          <a:xfrm>
            <a:off x="2868969" y="2082249"/>
            <a:ext cx="7960717" cy="658194"/>
          </a:xfrm>
          <a:prstGeom prst="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altLang="zh-TW" sz="18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Calibri" panose="020F0502020204030204" pitchFamily="34" charset="0"/>
              </a:rPr>
              <a:t>Step 2. </a:t>
            </a:r>
            <a:r>
              <a:rPr kumimoji="0" lang="en" altLang="zh-TW" sz="1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Calibri" panose="020F0502020204030204" pitchFamily="34" charset="0"/>
              </a:rPr>
              <a:t>Unique Customer Level</a:t>
            </a:r>
            <a:r>
              <a:rPr kumimoji="0" lang="zh-TW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Calibri" panose="020F0502020204030204" pitchFamily="34" charset="0"/>
              </a:rPr>
              <a:t> </a:t>
            </a:r>
            <a:r>
              <a:rPr kumimoji="0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Calibri" panose="020F0502020204030204" pitchFamily="34" charset="0"/>
              </a:rPr>
              <a:t>(N = 93358  customers)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altLang="zh-TW" sz="1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Calibri" panose="020F0502020204030204" pitchFamily="34" charset="0"/>
              </a:rPr>
              <a:t>Grouped by </a:t>
            </a:r>
            <a:r>
              <a:rPr kumimoji="0" lang="en" altLang="zh-TW" sz="18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Calibri" panose="020F0502020204030204" pitchFamily="34" charset="0"/>
              </a:rPr>
              <a:t>customer_unique_id</a:t>
            </a:r>
            <a:r>
              <a:rPr kumimoji="0" lang="en" altLang="zh-TW" sz="1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Calibri" panose="020F0502020204030204" pitchFamily="34" charset="0"/>
              </a:rPr>
              <a:t> (resolving 1-to-many ID mapping)</a:t>
            </a:r>
            <a:endParaRPr kumimoji="0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 pitchFamily="34" charset="0"/>
              <a:ea typeface="新細明體" panose="02020500000000000000" pitchFamily="18" charset="-120"/>
              <a:cs typeface="Calibri" panose="020F0502020204030204" pitchFamily="34" charset="0"/>
            </a:endParaRP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0EA2E7ED-1E8D-C363-EF44-86EC5F5726B7}"/>
              </a:ext>
            </a:extLst>
          </p:cNvPr>
          <p:cNvSpPr/>
          <p:nvPr/>
        </p:nvSpPr>
        <p:spPr>
          <a:xfrm>
            <a:off x="2868969" y="3055109"/>
            <a:ext cx="7960717" cy="778017"/>
          </a:xfrm>
          <a:prstGeom prst="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altLang="zh-TW" sz="18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Calibri" panose="020F0502020204030204" pitchFamily="34" charset="0"/>
              </a:rPr>
              <a:t>Step 3. </a:t>
            </a:r>
            <a:r>
              <a:rPr kumimoji="0" lang="en" altLang="zh-TW" sz="1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Calibri" panose="020F0502020204030204" pitchFamily="34" charset="0"/>
              </a:rPr>
              <a:t>6-Month Maturity Filter</a:t>
            </a:r>
            <a:r>
              <a:rPr kumimoji="0" lang="zh-TW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Calibri" panose="020F0502020204030204" pitchFamily="34" charset="0"/>
              </a:rPr>
              <a:t> </a:t>
            </a:r>
            <a:r>
              <a:rPr kumimoji="0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Calibri" panose="020F0502020204030204" pitchFamily="34" charset="0"/>
              </a:rPr>
              <a:t>(N =  56949 customers)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altLang="zh-TW" sz="1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Calibri" panose="020F0502020204030204" pitchFamily="34" charset="0"/>
              </a:rPr>
              <a:t> Excluded: Customers whose first purchase was &lt; 6 months ago</a:t>
            </a:r>
            <a:endParaRPr kumimoji="0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 pitchFamily="34" charset="0"/>
              <a:ea typeface="新細明體" panose="02020500000000000000" pitchFamily="18" charset="-120"/>
              <a:cs typeface="Calibri" panose="020F0502020204030204" pitchFamily="34" charset="0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0AE406DD-9B60-D7A3-9000-48F5FAEBE059}"/>
              </a:ext>
            </a:extLst>
          </p:cNvPr>
          <p:cNvSpPr/>
          <p:nvPr/>
        </p:nvSpPr>
        <p:spPr>
          <a:xfrm>
            <a:off x="2868968" y="4202458"/>
            <a:ext cx="7960717" cy="1156601"/>
          </a:xfrm>
          <a:prstGeom prst="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lvl="0" indent="-285750">
              <a:buFont typeface="Arial" panose="020B0604020202020204" pitchFamily="34" charset="0"/>
              <a:buChar char="•"/>
              <a:defRPr/>
            </a:pPr>
            <a:r>
              <a:rPr lang="en" altLang="zh-TW" dirty="0">
                <a:latin typeface="Calibri" panose="020F0502020204030204" pitchFamily="34" charset="0"/>
                <a:cs typeface="Calibri" panose="020F0502020204030204" pitchFamily="34" charset="0"/>
              </a:rPr>
              <a:t>Shipping Duration ➔ Handled 2 missing dates ➔ Defined by Median </a:t>
            </a:r>
          </a:p>
          <a:p>
            <a:pPr marL="285750" lvl="0" indent="-285750" algn="ctr">
              <a:buFont typeface="Arial" panose="020B0604020202020204" pitchFamily="34" charset="0"/>
              <a:buChar char="•"/>
              <a:defRPr/>
            </a:pPr>
            <a:r>
              <a:rPr lang="en" altLang="zh-TW" dirty="0">
                <a:latin typeface="Calibri" panose="020F0502020204030204" pitchFamily="34" charset="0"/>
                <a:cs typeface="Calibri" panose="020F0502020204030204" pitchFamily="34" charset="0"/>
              </a:rPr>
              <a:t>Freight Cost ➔ Confirmed 100% complete ➔ Defined by Median </a:t>
            </a:r>
          </a:p>
          <a:p>
            <a:pPr algn="ctr">
              <a:defRPr/>
            </a:pPr>
            <a:r>
              <a:rPr lang="en-US" altLang="zh-TW" dirty="0">
                <a:latin typeface="Calibri" panose="020F0502020204030204" pitchFamily="34" charset="0"/>
                <a:cs typeface="Calibri" panose="020F0502020204030204" pitchFamily="34" charset="0"/>
              </a:rPr>
              <a:t>(56947 </a:t>
            </a:r>
            <a:r>
              <a:rPr lang="en-US" altLang="zh-TW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customers with </a:t>
            </a:r>
            <a:r>
              <a:rPr lang="en-US" altLang="zh-TW" dirty="0">
                <a:latin typeface="Calibri" panose="020F0502020204030204" pitchFamily="34" charset="0"/>
                <a:cs typeface="Calibri" panose="020F0502020204030204" pitchFamily="34" charset="0"/>
              </a:rPr>
              <a:t>59494 </a:t>
            </a:r>
            <a:r>
              <a:rPr lang="en" altLang="zh-TW" dirty="0">
                <a:latin typeface="Calibri" panose="020F0502020204030204" pitchFamily="34" charset="0"/>
                <a:cs typeface="Calibri" panose="020F0502020204030204" pitchFamily="34" charset="0"/>
              </a:rPr>
              <a:t>shipping records</a:t>
            </a:r>
            <a:r>
              <a:rPr lang="en-US" altLang="zh-TW" dirty="0">
                <a:latin typeface="Calibri" panose="020F0502020204030204" pitchFamily="34" charset="0"/>
                <a:cs typeface="Calibri" panose="020F0502020204030204" pitchFamily="34" charset="0"/>
              </a:rPr>
              <a:t>)</a:t>
            </a:r>
            <a:endParaRPr lang="en" altLang="zh-TW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2" name="文字方塊 31">
            <a:extLst>
              <a:ext uri="{FF2B5EF4-FFF2-40B4-BE49-F238E27FC236}">
                <a16:creationId xmlns:a16="http://schemas.microsoft.com/office/drawing/2014/main" id="{2F25F6EC-578F-454D-9A5F-4452383338E8}"/>
              </a:ext>
            </a:extLst>
          </p:cNvPr>
          <p:cNvSpPr txBox="1"/>
          <p:nvPr/>
        </p:nvSpPr>
        <p:spPr>
          <a:xfrm>
            <a:off x="2688218" y="3834887"/>
            <a:ext cx="543536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altLang="zh-TW" b="1" dirty="0">
                <a:latin typeface="Calibri" panose="020F0502020204030204" pitchFamily="34" charset="0"/>
                <a:cs typeface="Calibri" panose="020F0502020204030204" pitchFamily="34" charset="0"/>
              </a:rPr>
              <a:t>Step 4. </a:t>
            </a:r>
            <a:r>
              <a:rPr lang="zh-TW" altLang="en-US" dirty="0">
                <a:latin typeface="Calibri" panose="020F0502020204030204" pitchFamily="34" charset="0"/>
                <a:cs typeface="Calibri" panose="020F0502020204030204" pitchFamily="34" charset="0"/>
              </a:rPr>
              <a:t>Metric Selection &amp; Baseline Setup</a:t>
            </a:r>
          </a:p>
        </p:txBody>
      </p:sp>
      <p:cxnSp>
        <p:nvCxnSpPr>
          <p:cNvPr id="34" name="直線箭頭接點 33">
            <a:extLst>
              <a:ext uri="{FF2B5EF4-FFF2-40B4-BE49-F238E27FC236}">
                <a16:creationId xmlns:a16="http://schemas.microsoft.com/office/drawing/2014/main" id="{6B394A75-E470-7E57-FDDE-B942AB015E12}"/>
              </a:ext>
            </a:extLst>
          </p:cNvPr>
          <p:cNvCxnSpPr>
            <a:cxnSpLocks/>
          </p:cNvCxnSpPr>
          <p:nvPr/>
        </p:nvCxnSpPr>
        <p:spPr>
          <a:xfrm>
            <a:off x="6666896" y="772144"/>
            <a:ext cx="0" cy="26628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5" name="直線箭頭接點 34">
            <a:extLst>
              <a:ext uri="{FF2B5EF4-FFF2-40B4-BE49-F238E27FC236}">
                <a16:creationId xmlns:a16="http://schemas.microsoft.com/office/drawing/2014/main" id="{5DC02B82-9252-1EF3-CA8F-43F0B4678933}"/>
              </a:ext>
            </a:extLst>
          </p:cNvPr>
          <p:cNvCxnSpPr>
            <a:cxnSpLocks/>
          </p:cNvCxnSpPr>
          <p:nvPr/>
        </p:nvCxnSpPr>
        <p:spPr>
          <a:xfrm>
            <a:off x="6666896" y="1756293"/>
            <a:ext cx="0" cy="26628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6" name="直線箭頭接點 35">
            <a:extLst>
              <a:ext uri="{FF2B5EF4-FFF2-40B4-BE49-F238E27FC236}">
                <a16:creationId xmlns:a16="http://schemas.microsoft.com/office/drawing/2014/main" id="{58AD1329-107D-CFFE-95E5-BEF0680D8B34}"/>
              </a:ext>
            </a:extLst>
          </p:cNvPr>
          <p:cNvCxnSpPr>
            <a:cxnSpLocks/>
          </p:cNvCxnSpPr>
          <p:nvPr/>
        </p:nvCxnSpPr>
        <p:spPr>
          <a:xfrm>
            <a:off x="6666896" y="2788822"/>
            <a:ext cx="0" cy="26628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7" name="直線箭頭接點 36">
            <a:extLst>
              <a:ext uri="{FF2B5EF4-FFF2-40B4-BE49-F238E27FC236}">
                <a16:creationId xmlns:a16="http://schemas.microsoft.com/office/drawing/2014/main" id="{69CFBDD7-0D47-9F86-EC94-1B67D6941205}"/>
              </a:ext>
            </a:extLst>
          </p:cNvPr>
          <p:cNvCxnSpPr>
            <a:cxnSpLocks/>
          </p:cNvCxnSpPr>
          <p:nvPr/>
        </p:nvCxnSpPr>
        <p:spPr>
          <a:xfrm>
            <a:off x="6666896" y="3884648"/>
            <a:ext cx="0" cy="26628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1" name="矩形 40">
            <a:extLst>
              <a:ext uri="{FF2B5EF4-FFF2-40B4-BE49-F238E27FC236}">
                <a16:creationId xmlns:a16="http://schemas.microsoft.com/office/drawing/2014/main" id="{9ED7CE8D-E86B-F539-35E6-836CE2CED603}"/>
              </a:ext>
            </a:extLst>
          </p:cNvPr>
          <p:cNvSpPr/>
          <p:nvPr/>
        </p:nvSpPr>
        <p:spPr>
          <a:xfrm>
            <a:off x="2868966" y="5728391"/>
            <a:ext cx="7960717" cy="839806"/>
          </a:xfrm>
          <a:prstGeom prst="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lvl="0" indent="-285750" algn="ctr">
              <a:buFont typeface="Arial" panose="020B0604020202020204" pitchFamily="34" charset="0"/>
              <a:buChar char="•"/>
              <a:defRPr/>
            </a:pPr>
            <a:r>
              <a:rPr lang="en" altLang="zh-TW" dirty="0">
                <a:latin typeface="Calibri" panose="020F0502020204030204" pitchFamily="34" charset="0"/>
                <a:cs typeface="Calibri" panose="020F0502020204030204" pitchFamily="34" charset="0"/>
              </a:rPr>
              <a:t>Review Score ➔ Deduplicated multi-reviews ➔ Kept latest score only</a:t>
            </a:r>
          </a:p>
          <a:p>
            <a:pPr lvl="0" algn="ctr">
              <a:defRPr/>
            </a:pPr>
            <a:r>
              <a:rPr lang="en-US" altLang="zh-TW" dirty="0">
                <a:latin typeface="Calibri" panose="020F0502020204030204" pitchFamily="34" charset="0"/>
                <a:cs typeface="Calibri" panose="020F0502020204030204" pitchFamily="34" charset="0"/>
              </a:rPr>
              <a:t>(56528 </a:t>
            </a:r>
            <a:r>
              <a:rPr lang="en-US" altLang="zh-TW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customers with </a:t>
            </a:r>
            <a:r>
              <a:rPr lang="en-US" altLang="zh-TW" dirty="0">
                <a:latin typeface="Calibri" panose="020F0502020204030204" pitchFamily="34" charset="0"/>
                <a:cs typeface="Calibri" panose="020F0502020204030204" pitchFamily="34" charset="0"/>
              </a:rPr>
              <a:t>59039 </a:t>
            </a:r>
            <a:r>
              <a:rPr lang="en" altLang="zh-TW" dirty="0">
                <a:latin typeface="Calibri" panose="020F0502020204030204" pitchFamily="34" charset="0"/>
                <a:cs typeface="Calibri" panose="020F0502020204030204" pitchFamily="34" charset="0"/>
              </a:rPr>
              <a:t> scores </a:t>
            </a:r>
            <a:r>
              <a:rPr lang="en-US" altLang="zh-TW" dirty="0">
                <a:latin typeface="Calibri" panose="020F0502020204030204" pitchFamily="34" charset="0"/>
                <a:cs typeface="Calibri" panose="020F0502020204030204" pitchFamily="34" charset="0"/>
              </a:rPr>
              <a:t>)</a:t>
            </a:r>
            <a:endParaRPr lang="en" altLang="zh-TW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42" name="直線箭頭接點 41">
            <a:extLst>
              <a:ext uri="{FF2B5EF4-FFF2-40B4-BE49-F238E27FC236}">
                <a16:creationId xmlns:a16="http://schemas.microsoft.com/office/drawing/2014/main" id="{4B037AB5-C011-58BA-649D-F0378B0C402C}"/>
              </a:ext>
            </a:extLst>
          </p:cNvPr>
          <p:cNvCxnSpPr>
            <a:cxnSpLocks/>
          </p:cNvCxnSpPr>
          <p:nvPr/>
        </p:nvCxnSpPr>
        <p:spPr>
          <a:xfrm>
            <a:off x="6675817" y="5359059"/>
            <a:ext cx="0" cy="26628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456260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AEA6F89-E663-DBBC-D826-808902F39B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64305"/>
            <a:ext cx="10515600" cy="1325563"/>
          </a:xfrm>
        </p:spPr>
        <p:txBody>
          <a:bodyPr/>
          <a:lstStyle/>
          <a:p>
            <a:r>
              <a:rPr kumimoji="1" lang="en" altLang="zh-TW" b="1" dirty="0">
                <a:latin typeface="Calibri" panose="020F0502020204030204" pitchFamily="34" charset="0"/>
                <a:cs typeface="Calibri" panose="020F0502020204030204" pitchFamily="34" charset="0"/>
              </a:rPr>
              <a:t>Step 1. Defining "Effective Orders"</a:t>
            </a:r>
            <a:endParaRPr kumimoji="1" lang="zh-TW" altLang="en-US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4" name="圖片 3" descr="一張含有 文字, 螢幕擷取畫面, 字型, 數字 的圖片&#10;&#10;AI 產生的內容可能不正確。">
            <a:extLst>
              <a:ext uri="{FF2B5EF4-FFF2-40B4-BE49-F238E27FC236}">
                <a16:creationId xmlns:a16="http://schemas.microsoft.com/office/drawing/2014/main" id="{84207520-6C5C-916A-9AFA-CEC94DF5DE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0322" y="1465835"/>
            <a:ext cx="3407675" cy="2998226"/>
          </a:xfrm>
          <a:prstGeom prst="rect">
            <a:avLst/>
          </a:prstGeom>
        </p:spPr>
      </p:pic>
      <p:sp>
        <p:nvSpPr>
          <p:cNvPr id="6" name="文字方塊 5">
            <a:extLst>
              <a:ext uri="{FF2B5EF4-FFF2-40B4-BE49-F238E27FC236}">
                <a16:creationId xmlns:a16="http://schemas.microsoft.com/office/drawing/2014/main" id="{EAB95D3F-9D38-2238-BA58-5B93F784014B}"/>
              </a:ext>
            </a:extLst>
          </p:cNvPr>
          <p:cNvSpPr txBox="1"/>
          <p:nvPr/>
        </p:nvSpPr>
        <p:spPr>
          <a:xfrm>
            <a:off x="1490272" y="4634923"/>
            <a:ext cx="9211456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dirty="0">
                <a:latin typeface="Calibri" panose="020F0502020204030204" pitchFamily="34" charset="0"/>
                <a:cs typeface="Calibri" panose="020F0502020204030204" pitchFamily="34" charset="0"/>
              </a:rPr>
              <a:t>Scope Limitation: </a:t>
            </a:r>
            <a:endParaRPr lang="en-US" altLang="zh-TW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zh-TW" altLang="en-US" dirty="0">
                <a:latin typeface="Calibri" panose="020F0502020204030204" pitchFamily="34" charset="0"/>
                <a:cs typeface="Calibri" panose="020F0502020204030204" pitchFamily="34" charset="0"/>
              </a:rPr>
              <a:t>Analysis is strictly limited to successful, fulfilled orders (delivered status: 97.02%).</a:t>
            </a:r>
          </a:p>
          <a:p>
            <a:endParaRPr lang="zh-TW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zh-TW" altLang="en-US" dirty="0">
                <a:latin typeface="Calibri" panose="020F0502020204030204" pitchFamily="34" charset="0"/>
                <a:cs typeface="Calibri" panose="020F0502020204030204" pitchFamily="34" charset="0"/>
              </a:rPr>
              <a:t>Purpose: </a:t>
            </a:r>
            <a:endParaRPr lang="en-US" altLang="zh-TW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zh-TW" altLang="en-US" dirty="0">
                <a:latin typeface="Calibri" panose="020F0502020204030204" pitchFamily="34" charset="0"/>
                <a:cs typeface="Calibri" panose="020F0502020204030204" pitchFamily="34" charset="0"/>
              </a:rPr>
              <a:t>Eliminates statistical bias to ensure accurate measurement of true repurchase cycles and physical logistics duration.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483900BA-772C-D7E0-9752-8B1E02D8648D}"/>
              </a:ext>
            </a:extLst>
          </p:cNvPr>
          <p:cNvSpPr/>
          <p:nvPr/>
        </p:nvSpPr>
        <p:spPr>
          <a:xfrm>
            <a:off x="1490272" y="1551266"/>
            <a:ext cx="1147997" cy="2795882"/>
          </a:xfrm>
          <a:prstGeom prst="rect">
            <a:avLst/>
          </a:prstGeom>
          <a:noFill/>
          <a:ln w="28575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8" name="圖片 7" descr="一張含有 文字, 字型, 螢幕擷取畫面, 白色 的圖片&#10;&#10;AI 產生的內容可能不正確。">
            <a:extLst>
              <a:ext uri="{FF2B5EF4-FFF2-40B4-BE49-F238E27FC236}">
                <a16:creationId xmlns:a16="http://schemas.microsoft.com/office/drawing/2014/main" id="{4B289921-10B9-D37C-80A6-BA337022E2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34077" y="2299205"/>
            <a:ext cx="6642100" cy="863600"/>
          </a:xfrm>
          <a:prstGeom prst="rect">
            <a:avLst/>
          </a:prstGeom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AF00A4F2-3973-32F3-2840-59AABB159946}"/>
              </a:ext>
            </a:extLst>
          </p:cNvPr>
          <p:cNvSpPr/>
          <p:nvPr/>
        </p:nvSpPr>
        <p:spPr>
          <a:xfrm>
            <a:off x="10104596" y="2373381"/>
            <a:ext cx="1392860" cy="66962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投影片編號版面配置區 9">
            <a:extLst>
              <a:ext uri="{FF2B5EF4-FFF2-40B4-BE49-F238E27FC236}">
                <a16:creationId xmlns:a16="http://schemas.microsoft.com/office/drawing/2014/main" id="{9AC393E1-8203-4AAA-0C07-0282763FAD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3A3A4-6A86-1F48-98F8-03CAE8D7ECD4}" type="slidenum">
              <a:rPr kumimoji="1" lang="zh-TW" altLang="en-US" smtClean="0">
                <a:latin typeface="Calibri" panose="020F0502020204030204" pitchFamily="34" charset="0"/>
                <a:cs typeface="Calibri" panose="020F0502020204030204" pitchFamily="34" charset="0"/>
              </a:rPr>
              <a:t>9</a:t>
            </a:fld>
            <a:endParaRPr kumimoji="1" lang="zh-TW" alt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734061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ABB143B-A5FE-A9A0-B607-44E02E058B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8475" y="316942"/>
            <a:ext cx="11805745" cy="1325563"/>
          </a:xfrm>
        </p:spPr>
        <p:txBody>
          <a:bodyPr/>
          <a:lstStyle/>
          <a:p>
            <a:r>
              <a:rPr kumimoji="1" lang="en" altLang="zh-TW" b="1" dirty="0">
                <a:latin typeface="Calibri" panose="020F0502020204030204" pitchFamily="34" charset="0"/>
                <a:cs typeface="Calibri" panose="020F0502020204030204" pitchFamily="34" charset="0"/>
              </a:rPr>
              <a:t>Step 2. Customer Definition &amp; Cohort Selection</a:t>
            </a:r>
            <a:endParaRPr kumimoji="1" lang="zh-TW" altLang="en-US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C328DF11-69D6-E354-EE5A-36DFBF968C55}"/>
              </a:ext>
            </a:extLst>
          </p:cNvPr>
          <p:cNvSpPr txBox="1"/>
          <p:nvPr/>
        </p:nvSpPr>
        <p:spPr>
          <a:xfrm>
            <a:off x="838200" y="1690688"/>
            <a:ext cx="1093532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b="1" dirty="0">
                <a:latin typeface="Calibri" panose="020F0502020204030204" pitchFamily="34" charset="0"/>
                <a:cs typeface="Calibri" panose="020F0502020204030204" pitchFamily="34" charset="0"/>
              </a:rPr>
              <a:t>Evaluated retention using customer_unique_id </a:t>
            </a:r>
            <a:r>
              <a:rPr lang="zh-TW" altLang="en-US" dirty="0">
                <a:latin typeface="Calibri" panose="020F0502020204030204" pitchFamily="34" charset="0"/>
                <a:cs typeface="Calibri" panose="020F0502020204030204" pitchFamily="34" charset="0"/>
              </a:rPr>
              <a:t>instead of customer_id to account for one-to-many mapping (multiple orders/IDs per unique user).</a:t>
            </a:r>
          </a:p>
        </p:txBody>
      </p:sp>
      <p:pic>
        <p:nvPicPr>
          <p:cNvPr id="6" name="圖片 5" descr="一張含有 文字, 字型, 螢幕擷取畫面, 白色 的圖片&#10;&#10;AI 產生的內容可能不正確。">
            <a:extLst>
              <a:ext uri="{FF2B5EF4-FFF2-40B4-BE49-F238E27FC236}">
                <a16:creationId xmlns:a16="http://schemas.microsoft.com/office/drawing/2014/main" id="{FE1BF30A-39C3-88D9-A90D-DF31B8968C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0300" y="2395329"/>
            <a:ext cx="4965700" cy="749300"/>
          </a:xfrm>
          <a:prstGeom prst="rect">
            <a:avLst/>
          </a:prstGeom>
        </p:spPr>
      </p:pic>
      <p:sp>
        <p:nvSpPr>
          <p:cNvPr id="9" name="文字方塊 8">
            <a:extLst>
              <a:ext uri="{FF2B5EF4-FFF2-40B4-BE49-F238E27FC236}">
                <a16:creationId xmlns:a16="http://schemas.microsoft.com/office/drawing/2014/main" id="{59078C6C-CBAA-4B97-D259-7E1B6A56CA25}"/>
              </a:ext>
            </a:extLst>
          </p:cNvPr>
          <p:cNvSpPr txBox="1"/>
          <p:nvPr/>
        </p:nvSpPr>
        <p:spPr>
          <a:xfrm>
            <a:off x="838200" y="3429000"/>
            <a:ext cx="10054453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b="1" dirty="0">
                <a:latin typeface="Calibri" panose="020F0502020204030204" pitchFamily="34" charset="0"/>
                <a:cs typeface="Calibri" panose="020F0502020204030204" pitchFamily="34" charset="0"/>
              </a:rPr>
              <a:t>6-Month Cohort Filter: </a:t>
            </a:r>
            <a:endParaRPr lang="en-US" altLang="zh-TW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zh-TW" altLang="en-US" b="1" dirty="0">
                <a:latin typeface="Calibri" panose="020F0502020204030204" pitchFamily="34" charset="0"/>
                <a:cs typeface="Calibri" panose="020F0502020204030204" pitchFamily="34" charset="0"/>
              </a:rPr>
              <a:t>Excluded users whose first purchase occurred less than 6 months ago</a:t>
            </a:r>
            <a:r>
              <a:rPr lang="en-US" altLang="zh-TW" b="1" dirty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r>
              <a:rPr lang="zh-TW" altLang="en-US" dirty="0">
                <a:latin typeface="Calibri" panose="020F0502020204030204" pitchFamily="34" charset="0"/>
                <a:cs typeface="Calibri" panose="020F0502020204030204" pitchFamily="34" charset="0"/>
              </a:rPr>
              <a:t>Ensures newly acquired users have a sufficient observation window to exhibit natural repurchase behavior, preventing underestimation of true retention.</a:t>
            </a:r>
          </a:p>
        </p:txBody>
      </p:sp>
      <p:pic>
        <p:nvPicPr>
          <p:cNvPr id="11" name="圖片 10" descr="一張含有 文字, 螢幕擷取畫面, 數字, 字型 的圖片&#10;&#10;AI 產生的內容可能不正確。">
            <a:extLst>
              <a:ext uri="{FF2B5EF4-FFF2-40B4-BE49-F238E27FC236}">
                <a16:creationId xmlns:a16="http://schemas.microsoft.com/office/drawing/2014/main" id="{64D80FB5-BD2E-FCBD-0ECE-A6E5A88C90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6618" y="4725693"/>
            <a:ext cx="3886200" cy="2034054"/>
          </a:xfrm>
          <a:prstGeom prst="rect">
            <a:avLst/>
          </a:prstGeom>
        </p:spPr>
      </p:pic>
      <p:pic>
        <p:nvPicPr>
          <p:cNvPr id="13" name="圖片 12" descr="一張含有 文字, 螢幕擷取畫面, 字型, 數字 的圖片&#10;&#10;AI 產生的內容可能不正確。">
            <a:extLst>
              <a:ext uri="{FF2B5EF4-FFF2-40B4-BE49-F238E27FC236}">
                <a16:creationId xmlns:a16="http://schemas.microsoft.com/office/drawing/2014/main" id="{74F1D79D-AE3E-CD84-F6BB-D03C4099AF8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76561" y="4725694"/>
            <a:ext cx="5540915" cy="1938342"/>
          </a:xfrm>
          <a:prstGeom prst="rect">
            <a:avLst/>
          </a:prstGeom>
        </p:spPr>
      </p:pic>
      <p:sp>
        <p:nvSpPr>
          <p:cNvPr id="14" name="矩形 13">
            <a:extLst>
              <a:ext uri="{FF2B5EF4-FFF2-40B4-BE49-F238E27FC236}">
                <a16:creationId xmlns:a16="http://schemas.microsoft.com/office/drawing/2014/main" id="{FF236A55-CD4C-FBA0-1935-A28E8405A7EE}"/>
              </a:ext>
            </a:extLst>
          </p:cNvPr>
          <p:cNvSpPr/>
          <p:nvPr/>
        </p:nvSpPr>
        <p:spPr>
          <a:xfrm>
            <a:off x="5276560" y="4725693"/>
            <a:ext cx="5433003" cy="166125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17C5AB6-B070-2CB8-4D5D-1F71EB7804C3}"/>
              </a:ext>
            </a:extLst>
          </p:cNvPr>
          <p:cNvSpPr/>
          <p:nvPr/>
        </p:nvSpPr>
        <p:spPr>
          <a:xfrm>
            <a:off x="1130299" y="2376385"/>
            <a:ext cx="1529773" cy="74930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6" name="投影片編號版面配置區 15">
            <a:extLst>
              <a:ext uri="{FF2B5EF4-FFF2-40B4-BE49-F238E27FC236}">
                <a16:creationId xmlns:a16="http://schemas.microsoft.com/office/drawing/2014/main" id="{239DA33C-7B86-D1AE-95E2-E0079AF96A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3A3A4-6A86-1F48-98F8-03CAE8D7ECD4}" type="slidenum">
              <a:rPr kumimoji="1" lang="zh-TW" altLang="en-US" smtClean="0">
                <a:latin typeface="Calibri" panose="020F0502020204030204" pitchFamily="34" charset="0"/>
                <a:cs typeface="Calibri" panose="020F0502020204030204" pitchFamily="34" charset="0"/>
              </a:rPr>
              <a:t>10</a:t>
            </a:fld>
            <a:endParaRPr kumimoji="1" lang="zh-TW" alt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C7B6B30D-5CEF-FFBE-5B97-2276F7B841A0}"/>
              </a:ext>
            </a:extLst>
          </p:cNvPr>
          <p:cNvSpPr txBox="1"/>
          <p:nvPr/>
        </p:nvSpPr>
        <p:spPr>
          <a:xfrm>
            <a:off x="1190577" y="4504160"/>
            <a:ext cx="610054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zh-TW" altLang="en-US" sz="1400" dirty="0">
                <a:latin typeface="Calibri" panose="020F0502020204030204" pitchFamily="34" charset="0"/>
                <a:ea typeface="DFKai-SB" panose="03000509000000000000" pitchFamily="49" charset="-120"/>
                <a:cs typeface="Calibri" panose="020F0502020204030204" pitchFamily="34" charset="0"/>
              </a:rPr>
              <a:t>顧客首次購物時間點</a:t>
            </a:r>
          </a:p>
        </p:txBody>
      </p:sp>
    </p:spTree>
    <p:extLst>
      <p:ext uri="{BB962C8B-B14F-4D97-AF65-F5344CB8AC3E}">
        <p14:creationId xmlns:p14="http://schemas.microsoft.com/office/powerpoint/2010/main" val="1562124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32B478E-539D-577A-15E5-C2DDDE6E62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02" y="228931"/>
            <a:ext cx="10515600" cy="1325563"/>
          </a:xfrm>
        </p:spPr>
        <p:txBody>
          <a:bodyPr/>
          <a:lstStyle/>
          <a:p>
            <a:r>
              <a:rPr kumimoji="1" lang="en" altLang="zh-TW" b="1" dirty="0">
                <a:latin typeface="Calibri" panose="020F0502020204030204" pitchFamily="34" charset="0"/>
                <a:cs typeface="Calibri" panose="020F0502020204030204" pitchFamily="34" charset="0"/>
              </a:rPr>
              <a:t>Step 3. </a:t>
            </a:r>
            <a:r>
              <a:rPr lang="en" altLang="zh-TW" b="1" dirty="0">
                <a:latin typeface="Calibri" panose="020F0502020204030204" pitchFamily="34" charset="0"/>
                <a:cs typeface="Calibri" panose="020F0502020204030204" pitchFamily="34" charset="0"/>
              </a:rPr>
              <a:t>Cross-State Order Definition</a:t>
            </a:r>
            <a:endParaRPr kumimoji="1" lang="zh-TW" altLang="en-US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5" name="內容版面配置區 4" descr="一張含有 文字, 螢幕擷取畫面, 字型, 數字 的圖片&#10;&#10;AI 產生的內容可能不正確。">
            <a:extLst>
              <a:ext uri="{FF2B5EF4-FFF2-40B4-BE49-F238E27FC236}">
                <a16:creationId xmlns:a16="http://schemas.microsoft.com/office/drawing/2014/main" id="{4FB28CBF-3781-DF3F-B6E5-190359D793D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3232290" y="1306498"/>
            <a:ext cx="5727420" cy="1707717"/>
          </a:xfrm>
        </p:spPr>
      </p:pic>
      <p:pic>
        <p:nvPicPr>
          <p:cNvPr id="7" name="圖片 6" descr="一張含有 文字, 字型, 螢幕擷取畫面, 白色 的圖片&#10;&#10;AI 產生的內容可能不正確。">
            <a:extLst>
              <a:ext uri="{FF2B5EF4-FFF2-40B4-BE49-F238E27FC236}">
                <a16:creationId xmlns:a16="http://schemas.microsoft.com/office/drawing/2014/main" id="{9FBC4581-280C-4411-3FC3-ACB21FAE52B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91932" y="3429000"/>
            <a:ext cx="6793540" cy="1312862"/>
          </a:xfrm>
          <a:prstGeom prst="rect">
            <a:avLst/>
          </a:prstGeom>
        </p:spPr>
      </p:pic>
      <p:sp>
        <p:nvSpPr>
          <p:cNvPr id="9" name="文字方塊 8">
            <a:extLst>
              <a:ext uri="{FF2B5EF4-FFF2-40B4-BE49-F238E27FC236}">
                <a16:creationId xmlns:a16="http://schemas.microsoft.com/office/drawing/2014/main" id="{4F7A37A2-8440-FCE6-007C-648B236F26AA}"/>
              </a:ext>
            </a:extLst>
          </p:cNvPr>
          <p:cNvSpPr txBox="1"/>
          <p:nvPr/>
        </p:nvSpPr>
        <p:spPr>
          <a:xfrm>
            <a:off x="1757358" y="5156647"/>
            <a:ext cx="888413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dirty="0">
                <a:latin typeface="Calibri" panose="020F0502020204030204" pitchFamily="34" charset="0"/>
                <a:cs typeface="Calibri" panose="020F0502020204030204" pitchFamily="34" charset="0"/>
              </a:rPr>
              <a:t>Multi-item orders frequently involve multiple sellers and distinct regional origins.</a:t>
            </a:r>
          </a:p>
          <a:p>
            <a:endParaRPr lang="zh-TW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zh-TW" altLang="en-US" dirty="0">
                <a:latin typeface="Calibri" panose="020F0502020204030204" pitchFamily="34" charset="0"/>
                <a:cs typeface="Calibri" panose="020F0502020204030204" pitchFamily="34" charset="0"/>
              </a:rPr>
              <a:t>An order is classified as </a:t>
            </a:r>
            <a:r>
              <a:rPr lang="zh-TW" altLang="en-US" b="1" dirty="0">
                <a:latin typeface="Calibri" panose="020F0502020204030204" pitchFamily="34" charset="0"/>
                <a:cs typeface="Calibri" panose="020F0502020204030204" pitchFamily="34" charset="0"/>
              </a:rPr>
              <a:t>"Cross-State" if at least one item is shipped from a seller located in a different state than the buyer.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C5A58ED-730F-1A9B-12E3-8B9D263C80B3}"/>
              </a:ext>
            </a:extLst>
          </p:cNvPr>
          <p:cNvSpPr/>
          <p:nvPr/>
        </p:nvSpPr>
        <p:spPr>
          <a:xfrm>
            <a:off x="3232291" y="2005282"/>
            <a:ext cx="5727420" cy="1008933"/>
          </a:xfrm>
          <a:prstGeom prst="rect">
            <a:avLst/>
          </a:prstGeom>
          <a:noFill/>
          <a:ln w="28575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12" name="直線箭頭接點 11">
            <a:extLst>
              <a:ext uri="{FF2B5EF4-FFF2-40B4-BE49-F238E27FC236}">
                <a16:creationId xmlns:a16="http://schemas.microsoft.com/office/drawing/2014/main" id="{9E01B90B-63A6-67A6-5416-BA35D46B1030}"/>
              </a:ext>
            </a:extLst>
          </p:cNvPr>
          <p:cNvCxnSpPr/>
          <p:nvPr/>
        </p:nvCxnSpPr>
        <p:spPr>
          <a:xfrm>
            <a:off x="5558330" y="3014215"/>
            <a:ext cx="0" cy="349392"/>
          </a:xfrm>
          <a:prstGeom prst="straightConnector1">
            <a:avLst/>
          </a:prstGeom>
          <a:ln w="28575">
            <a:solidFill>
              <a:schemeClr val="tx2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投影片編號版面配置區 12">
            <a:extLst>
              <a:ext uri="{FF2B5EF4-FFF2-40B4-BE49-F238E27FC236}">
                <a16:creationId xmlns:a16="http://schemas.microsoft.com/office/drawing/2014/main" id="{650B9D10-2933-430F-7CD3-A60D463C41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3A3A4-6A86-1F48-98F8-03CAE8D7ECD4}" type="slidenum">
              <a:rPr kumimoji="1" lang="zh-TW" altLang="en-US" smtClean="0">
                <a:latin typeface="Calibri" panose="020F0502020204030204" pitchFamily="34" charset="0"/>
                <a:cs typeface="Calibri" panose="020F0502020204030204" pitchFamily="34" charset="0"/>
              </a:rPr>
              <a:t>11</a:t>
            </a:fld>
            <a:endParaRPr kumimoji="1" lang="zh-TW" alt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168457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2A7B438-548B-2094-92A1-81BF89CFC3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" altLang="zh-TW" b="1" dirty="0">
                <a:latin typeface="Calibri" panose="020F0502020204030204" pitchFamily="34" charset="0"/>
                <a:cs typeface="Calibri" panose="020F0502020204030204" pitchFamily="34" charset="0"/>
              </a:rPr>
              <a:t>Step 4. </a:t>
            </a:r>
            <a:r>
              <a:rPr lang="en" altLang="zh-TW" b="1" dirty="0">
                <a:latin typeface="Calibri" panose="020F0502020204030204" pitchFamily="34" charset="0"/>
                <a:cs typeface="Calibri" panose="020F0502020204030204" pitchFamily="34" charset="0"/>
              </a:rPr>
              <a:t>Delivery Time / Shipping Duration</a:t>
            </a:r>
            <a:endParaRPr kumimoji="1" lang="zh-TW" altLang="en-US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05B0E398-044D-9F00-ABD9-829C3B130D2B}"/>
              </a:ext>
            </a:extLst>
          </p:cNvPr>
          <p:cNvSpPr txBox="1"/>
          <p:nvPr/>
        </p:nvSpPr>
        <p:spPr>
          <a:xfrm>
            <a:off x="963319" y="2778191"/>
            <a:ext cx="1174883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Purged </a:t>
            </a:r>
            <a:r>
              <a:rPr lang="en-US" altLang="zh-TW" sz="2400" dirty="0">
                <a:latin typeface="Calibri" panose="020F0502020204030204" pitchFamily="34" charset="0"/>
                <a:cs typeface="Calibri" panose="020F0502020204030204" pitchFamily="34" charset="0"/>
              </a:rPr>
              <a:t>24</a:t>
            </a:r>
            <a:r>
              <a:rPr lang="zh-TW" alt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records with missing</a:t>
            </a:r>
            <a:r>
              <a:rPr lang="en-US" altLang="zh-TW" sz="2400" dirty="0">
                <a:latin typeface="Calibri" panose="020F0502020204030204" pitchFamily="34" charset="0"/>
                <a:cs typeface="Calibri" panose="020F0502020204030204" pitchFamily="34" charset="0"/>
              </a:rPr>
              <a:t> or unnormal</a:t>
            </a:r>
            <a:r>
              <a:rPr lang="zh-TW" alt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delivered_date values to ensure timeline completeness.</a:t>
            </a:r>
            <a:endParaRPr lang="en-US" altLang="zh-TW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zh-TW" altLang="en-US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681DD6A6-8ED9-A4AA-F5A3-51C12D588A48}"/>
              </a:ext>
            </a:extLst>
          </p:cNvPr>
          <p:cNvSpPr txBox="1"/>
          <p:nvPr/>
        </p:nvSpPr>
        <p:spPr>
          <a:xfrm>
            <a:off x="925767" y="4409115"/>
            <a:ext cx="1071713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Identified severe right-skewness in shipping performance, where P95 is 29.27 days but the maximum extends to 209.63 days.</a:t>
            </a:r>
            <a:endParaRPr lang="en-US" altLang="zh-TW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" altLang="zh-TW" sz="2400" b="1" dirty="0">
                <a:latin typeface="Calibri" panose="020F0502020204030204" pitchFamily="34" charset="0"/>
                <a:cs typeface="Calibri" panose="020F0502020204030204" pitchFamily="34" charset="0"/>
              </a:rPr>
              <a:t>Adopted the median as the primary metric</a:t>
            </a:r>
            <a:r>
              <a:rPr lang="en" altLang="zh-TW" sz="2400" dirty="0">
                <a:latin typeface="Calibri" panose="020F0502020204030204" pitchFamily="34" charset="0"/>
                <a:cs typeface="Calibri" panose="020F0502020204030204" pitchFamily="34" charset="0"/>
              </a:rPr>
              <a:t>, ensuring robustness against extreme outliers and tracking true operational timelines.</a:t>
            </a:r>
            <a:endParaRPr lang="zh-TW" altLang="en-US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BE1092E9-847B-12BB-C206-CFF8417B1E7B}"/>
              </a:ext>
            </a:extLst>
          </p:cNvPr>
          <p:cNvSpPr txBox="1"/>
          <p:nvPr/>
        </p:nvSpPr>
        <p:spPr>
          <a:xfrm>
            <a:off x="925767" y="6021183"/>
            <a:ext cx="920115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altLang="zh-TW" sz="1600" dirty="0">
                <a:solidFill>
                  <a:schemeClr val="bg1">
                    <a:lumMod val="6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Validation confirms extreme delays are scattered randomly across states with negligible ratios (mostly &lt;0.5%), ruling out regional systemic bias.</a:t>
            </a:r>
            <a:endParaRPr lang="zh-TW" altLang="en-US" sz="1600" dirty="0">
              <a:solidFill>
                <a:schemeClr val="bg1">
                  <a:lumMod val="6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6" name="投影片編號版面配置區 15">
            <a:extLst>
              <a:ext uri="{FF2B5EF4-FFF2-40B4-BE49-F238E27FC236}">
                <a16:creationId xmlns:a16="http://schemas.microsoft.com/office/drawing/2014/main" id="{062E6AC0-7C7C-CD62-7D0A-46BFAF258B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3A3A4-6A86-1F48-98F8-03CAE8D7ECD4}" type="slidenum">
              <a:rPr kumimoji="1" lang="zh-TW" altLang="en-US" smtClean="0">
                <a:latin typeface="Calibri" panose="020F0502020204030204" pitchFamily="34" charset="0"/>
                <a:cs typeface="Calibri" panose="020F0502020204030204" pitchFamily="34" charset="0"/>
              </a:rPr>
              <a:t>12</a:t>
            </a:fld>
            <a:endParaRPr kumimoji="1" lang="zh-TW" alt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21" name="圖片 20" descr="一張含有 文字, 字型, 螢幕擷取畫面, 白色 的圖片&#10;&#10;AI 產生的內容可能不正確。">
            <a:extLst>
              <a:ext uri="{FF2B5EF4-FFF2-40B4-BE49-F238E27FC236}">
                <a16:creationId xmlns:a16="http://schemas.microsoft.com/office/drawing/2014/main" id="{3832BF69-CB93-C86A-30B9-46651B850B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4082" y="1393643"/>
            <a:ext cx="4894238" cy="1367508"/>
          </a:xfrm>
          <a:prstGeom prst="rect">
            <a:avLst/>
          </a:prstGeom>
        </p:spPr>
      </p:pic>
      <p:pic>
        <p:nvPicPr>
          <p:cNvPr id="23" name="圖片 22">
            <a:extLst>
              <a:ext uri="{FF2B5EF4-FFF2-40B4-BE49-F238E27FC236}">
                <a16:creationId xmlns:a16="http://schemas.microsoft.com/office/drawing/2014/main" id="{7B84DF20-12F8-C076-0484-F40752AD9E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5556" y="3642578"/>
            <a:ext cx="10122295" cy="6510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29577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2A2C52E-3B23-16C6-EAFB-5CE4BEFBB7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" altLang="zh-TW" b="1" dirty="0">
                <a:latin typeface="Calibri" panose="020F0502020204030204" pitchFamily="34" charset="0"/>
                <a:cs typeface="Calibri" panose="020F0502020204030204" pitchFamily="34" charset="0"/>
              </a:rPr>
              <a:t>Step 4. </a:t>
            </a:r>
            <a:r>
              <a:rPr lang="en" altLang="zh-TW" b="1" dirty="0">
                <a:latin typeface="Calibri" panose="020F0502020204030204" pitchFamily="34" charset="0"/>
                <a:cs typeface="Calibri" panose="020F0502020204030204" pitchFamily="34" charset="0"/>
              </a:rPr>
              <a:t>Freight Cost / Shipping Fee Filters</a:t>
            </a:r>
            <a:endParaRPr kumimoji="1" lang="zh-TW" altLang="en-US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D1CFD688-C070-5B32-CB27-9A073A6A24A8}"/>
              </a:ext>
            </a:extLst>
          </p:cNvPr>
          <p:cNvSpPr txBox="1"/>
          <p:nvPr/>
        </p:nvSpPr>
        <p:spPr>
          <a:xfrm>
            <a:off x="999397" y="1690688"/>
            <a:ext cx="10117016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Confirmed 100% data completeness with zero null or negative records in the freight cost attribute </a:t>
            </a:r>
            <a:endParaRPr lang="en-US" altLang="zh-TW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altLang="zh-TW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" altLang="zh-TW" sz="2400" dirty="0">
                <a:latin typeface="Calibri" panose="020F0502020204030204" pitchFamily="34" charset="0"/>
                <a:cs typeface="Calibri" panose="020F0502020204030204" pitchFamily="34" charset="0"/>
              </a:rPr>
              <a:t>Detected a heavy tail in shipping fees; while 95% of orders cost under 54.78, extreme outliers spike up to 1794.96.</a:t>
            </a:r>
          </a:p>
          <a:p>
            <a:endParaRPr lang="en" altLang="zh-TW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" altLang="zh-TW" sz="2400" b="1" dirty="0">
                <a:latin typeface="Calibri" panose="020F0502020204030204" pitchFamily="34" charset="0"/>
                <a:cs typeface="Calibri" panose="020F0502020204030204" pitchFamily="34" charset="0"/>
              </a:rPr>
              <a:t>Standardized on the median as the central tendency measure</a:t>
            </a:r>
            <a:r>
              <a:rPr lang="en" altLang="zh-TW" sz="2400" dirty="0">
                <a:latin typeface="Calibri" panose="020F0502020204030204" pitchFamily="34" charset="0"/>
                <a:cs typeface="Calibri" panose="020F0502020204030204" pitchFamily="34" charset="0"/>
              </a:rPr>
              <a:t>, ensuring robustness against anomalous logistics pricing.</a:t>
            </a:r>
            <a:endParaRPr lang="zh-TW" altLang="en-US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投影片編號版面配置區 7">
            <a:extLst>
              <a:ext uri="{FF2B5EF4-FFF2-40B4-BE49-F238E27FC236}">
                <a16:creationId xmlns:a16="http://schemas.microsoft.com/office/drawing/2014/main" id="{71FBD8B7-7831-BB4D-0DBD-779A00573A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3A3A4-6A86-1F48-98F8-03CAE8D7ECD4}" type="slidenum">
              <a:rPr kumimoji="1" lang="zh-TW" altLang="en-US" smtClean="0"/>
              <a:t>13</a:t>
            </a:fld>
            <a:endParaRPr kumimoji="1" lang="zh-TW" altLang="en-US"/>
          </a:p>
        </p:txBody>
      </p:sp>
      <p:pic>
        <p:nvPicPr>
          <p:cNvPr id="12" name="圖片 11">
            <a:extLst>
              <a:ext uri="{FF2B5EF4-FFF2-40B4-BE49-F238E27FC236}">
                <a16:creationId xmlns:a16="http://schemas.microsoft.com/office/drawing/2014/main" id="{6648ED65-1897-6563-BF66-AA00E865B2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4979073"/>
            <a:ext cx="11142000" cy="6908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218185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0A952C0-DDB2-A2F5-515A-F722A58B54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1419417" cy="1325563"/>
          </a:xfrm>
        </p:spPr>
        <p:txBody>
          <a:bodyPr/>
          <a:lstStyle/>
          <a:p>
            <a:r>
              <a:rPr kumimoji="1" lang="en" altLang="zh-TW" b="1" dirty="0">
                <a:latin typeface="Calibri" panose="020F0502020204030204" pitchFamily="34" charset="0"/>
                <a:cs typeface="Calibri" panose="020F0502020204030204" pitchFamily="34" charset="0"/>
              </a:rPr>
              <a:t>Step 4. </a:t>
            </a:r>
            <a:r>
              <a:rPr lang="en" altLang="zh-TW" b="1" dirty="0">
                <a:latin typeface="Calibri" panose="020F0502020204030204" pitchFamily="34" charset="0"/>
                <a:cs typeface="Calibri" panose="020F0502020204030204" pitchFamily="34" charset="0"/>
              </a:rPr>
              <a:t>Review Score / Customer Rating Filters</a:t>
            </a:r>
            <a:endParaRPr kumimoji="1" lang="zh-TW" altLang="en-US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D2B340C1-E59F-ECEB-27C3-23E82ACA2477}"/>
              </a:ext>
            </a:extLst>
          </p:cNvPr>
          <p:cNvSpPr txBox="1"/>
          <p:nvPr/>
        </p:nvSpPr>
        <p:spPr>
          <a:xfrm>
            <a:off x="1415562" y="1892496"/>
            <a:ext cx="846699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For orders with multiple reviews, only the latest score is retained to ensure a strict 1:1 order-to-review mapping.</a:t>
            </a:r>
          </a:p>
        </p:txBody>
      </p:sp>
      <p:sp>
        <p:nvSpPr>
          <p:cNvPr id="8" name="投影片編號版面配置區 7">
            <a:extLst>
              <a:ext uri="{FF2B5EF4-FFF2-40B4-BE49-F238E27FC236}">
                <a16:creationId xmlns:a16="http://schemas.microsoft.com/office/drawing/2014/main" id="{861FEC0D-C787-57B4-E63B-85DBA58A35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3A3A4-6A86-1F48-98F8-03CAE8D7ECD4}" type="slidenum">
              <a:rPr kumimoji="1" lang="zh-TW" altLang="en-US" smtClean="0">
                <a:latin typeface="Calibri" panose="020F0502020204030204" pitchFamily="34" charset="0"/>
                <a:cs typeface="Calibri" panose="020F0502020204030204" pitchFamily="34" charset="0"/>
              </a:rPr>
              <a:t>14</a:t>
            </a:fld>
            <a:endParaRPr kumimoji="1" lang="zh-TW" alt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0" name="圖片 9" descr="一張含有 文字, 螢幕擷取畫面, 字型, 數字 的圖片&#10;&#10;AI 產生的內容可能不正確。">
            <a:extLst>
              <a:ext uri="{FF2B5EF4-FFF2-40B4-BE49-F238E27FC236}">
                <a16:creationId xmlns:a16="http://schemas.microsoft.com/office/drawing/2014/main" id="{328F435B-8233-D77E-8096-4E9DF43B21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49033" y="2990592"/>
            <a:ext cx="6493934" cy="3365758"/>
          </a:xfrm>
          <a:prstGeom prst="rect">
            <a:avLst/>
          </a:prstGeom>
        </p:spPr>
      </p:pic>
      <p:cxnSp>
        <p:nvCxnSpPr>
          <p:cNvPr id="4" name="直線箭頭接點 3">
            <a:extLst>
              <a:ext uri="{FF2B5EF4-FFF2-40B4-BE49-F238E27FC236}">
                <a16:creationId xmlns:a16="http://schemas.microsoft.com/office/drawing/2014/main" id="{748097C8-F1AD-7E4C-E539-581574ABABE3}"/>
              </a:ext>
            </a:extLst>
          </p:cNvPr>
          <p:cNvCxnSpPr/>
          <p:nvPr/>
        </p:nvCxnSpPr>
        <p:spPr>
          <a:xfrm>
            <a:off x="9342967" y="6045200"/>
            <a:ext cx="3429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" name="文字方塊 6">
            <a:extLst>
              <a:ext uri="{FF2B5EF4-FFF2-40B4-BE49-F238E27FC236}">
                <a16:creationId xmlns:a16="http://schemas.microsoft.com/office/drawing/2014/main" id="{D7FC6E19-44B1-8B4E-C608-E2B488E3A55A}"/>
              </a:ext>
            </a:extLst>
          </p:cNvPr>
          <p:cNvSpPr txBox="1"/>
          <p:nvPr/>
        </p:nvSpPr>
        <p:spPr>
          <a:xfrm>
            <a:off x="9711266" y="5860534"/>
            <a:ext cx="164253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TW" dirty="0">
                <a:latin typeface="Calibri" panose="020F0502020204030204" pitchFamily="34" charset="0"/>
                <a:cs typeface="Calibri" panose="020F0502020204030204" pitchFamily="34" charset="0"/>
              </a:rPr>
              <a:t>Exclude</a:t>
            </a:r>
            <a:endParaRPr kumimoji="1" lang="zh-TW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A171E856-A0C6-1457-0563-F92BA7C13602}"/>
              </a:ext>
            </a:extLst>
          </p:cNvPr>
          <p:cNvSpPr txBox="1"/>
          <p:nvPr/>
        </p:nvSpPr>
        <p:spPr>
          <a:xfrm>
            <a:off x="9514417" y="5138879"/>
            <a:ext cx="2743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TW" dirty="0"/>
              <a:t>Low Review Score</a:t>
            </a:r>
            <a:endParaRPr kumimoji="1" lang="zh-TW" altLang="en-US" dirty="0"/>
          </a:p>
        </p:txBody>
      </p:sp>
      <p:sp>
        <p:nvSpPr>
          <p:cNvPr id="11" name="右大括弧 10">
            <a:extLst>
              <a:ext uri="{FF2B5EF4-FFF2-40B4-BE49-F238E27FC236}">
                <a16:creationId xmlns:a16="http://schemas.microsoft.com/office/drawing/2014/main" id="{D1BB4657-7101-F3C7-419D-78135A940775}"/>
              </a:ext>
            </a:extLst>
          </p:cNvPr>
          <p:cNvSpPr/>
          <p:nvPr/>
        </p:nvSpPr>
        <p:spPr>
          <a:xfrm>
            <a:off x="9199033" y="5138879"/>
            <a:ext cx="287867" cy="470157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TW" alt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9196088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95C8D4-4461-5C02-488B-2928A2261B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198370F-E3D4-D816-DB30-2189EAC4C1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" altLang="zh-TW" b="1" dirty="0">
                <a:latin typeface="Calibri" panose="020F0502020204030204" pitchFamily="34" charset="0"/>
                <a:cs typeface="Calibri" panose="020F0502020204030204" pitchFamily="34" charset="0"/>
              </a:rPr>
              <a:t>03. Preliminary Analysis &amp; Regional Retention Drivers</a:t>
            </a:r>
            <a:endParaRPr kumimoji="1" lang="zh-TW" altLang="en-US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D8D41D7-C755-FB01-0849-95E9421206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3A3A4-6A86-1F48-98F8-03CAE8D7ECD4}" type="slidenum">
              <a:rPr kumimoji="1" lang="zh-TW" altLang="en-US" smtClean="0"/>
              <a:t>15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56694708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F0A7EB05-CAA1-D72B-F9C6-5762B4C5CE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3A3A4-6A86-1F48-98F8-03CAE8D7ECD4}" type="slidenum">
              <a:rPr kumimoji="1" lang="zh-TW" altLang="en-US" smtClean="0">
                <a:latin typeface="Calibri" panose="020F0502020204030204" pitchFamily="34" charset="0"/>
                <a:cs typeface="Calibri" panose="020F0502020204030204" pitchFamily="34" charset="0"/>
              </a:rPr>
              <a:t>16</a:t>
            </a:fld>
            <a:endParaRPr kumimoji="1" lang="zh-TW" alt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5" name="圖片 4" descr="一張含有 文字, 圖表, 螢幕擷取畫面, 設計 的圖片&#10;&#10;AI 產生的內容可能不正確。">
            <a:extLst>
              <a:ext uri="{FF2B5EF4-FFF2-40B4-BE49-F238E27FC236}">
                <a16:creationId xmlns:a16="http://schemas.microsoft.com/office/drawing/2014/main" id="{6EE60AF5-BD5F-B294-D846-1F8A43D2CD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3305" y="1573220"/>
            <a:ext cx="8485389" cy="4979029"/>
          </a:xfrm>
          <a:prstGeom prst="rect">
            <a:avLst/>
          </a:prstGeom>
        </p:spPr>
      </p:pic>
      <p:sp>
        <p:nvSpPr>
          <p:cNvPr id="10" name="標題 1">
            <a:extLst>
              <a:ext uri="{FF2B5EF4-FFF2-40B4-BE49-F238E27FC236}">
                <a16:creationId xmlns:a16="http://schemas.microsoft.com/office/drawing/2014/main" id="{35F4248E-0EEF-7F9F-7F31-E2C9DB635A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98875"/>
            <a:ext cx="10515600" cy="1325563"/>
          </a:xfrm>
        </p:spPr>
        <p:txBody>
          <a:bodyPr/>
          <a:lstStyle/>
          <a:p>
            <a:r>
              <a:rPr lang="en" altLang="zh-TW" b="1" dirty="0">
                <a:latin typeface="Calibri" panose="020F0502020204030204" pitchFamily="34" charset="0"/>
                <a:cs typeface="Calibri" panose="020F0502020204030204" pitchFamily="34" charset="0"/>
              </a:rPr>
              <a:t>Preliminary Analysis: Geographic Disparity in Customer Density &amp; Retention Rates</a:t>
            </a:r>
            <a:endParaRPr kumimoji="1" lang="zh-TW" altLang="en-US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98DECAD7-D280-AD7E-960A-861AA9ECC18B}"/>
              </a:ext>
            </a:extLst>
          </p:cNvPr>
          <p:cNvSpPr txBox="1"/>
          <p:nvPr/>
        </p:nvSpPr>
        <p:spPr>
          <a:xfrm>
            <a:off x="8052695" y="3597452"/>
            <a:ext cx="380153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b="1" dirty="0">
                <a:latin typeface="Calibri" panose="020F0502020204030204" pitchFamily="34" charset="0"/>
                <a:cs typeface="Calibri" panose="020F0502020204030204" pitchFamily="34" charset="0"/>
              </a:rPr>
              <a:t>Severe Geographic Imbalance: </a:t>
            </a:r>
            <a:endParaRPr lang="en-US" altLang="zh-TW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" altLang="zh-TW" dirty="0">
                <a:latin typeface="Calibri" panose="020F0502020204030204" pitchFamily="34" charset="0"/>
                <a:cs typeface="Calibri" panose="020F0502020204030204" pitchFamily="34" charset="0"/>
              </a:rPr>
              <a:t>Most orders are in SP (22,603 orders). Other states have very few orders.</a:t>
            </a:r>
            <a:endParaRPr lang="zh-TW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B7051BFE-AA97-1961-516A-295F31D5BC0A}"/>
              </a:ext>
            </a:extLst>
          </p:cNvPr>
          <p:cNvSpPr txBox="1"/>
          <p:nvPr/>
        </p:nvSpPr>
        <p:spPr>
          <a:xfrm>
            <a:off x="533401" y="6235959"/>
            <a:ext cx="706209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altLang="zh-TW" b="1" dirty="0">
                <a:latin typeface="Calibri" panose="020F0502020204030204" pitchFamily="34" charset="0"/>
                <a:cs typeface="Calibri" panose="020F0502020204030204" pitchFamily="34" charset="0"/>
              </a:rPr>
              <a:t>Very Low Repeat Rate:</a:t>
            </a:r>
            <a:r>
              <a:rPr lang="en-US" altLang="zh-TW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" altLang="zh-TW" dirty="0">
                <a:latin typeface="Calibri" panose="020F0502020204030204" pitchFamily="34" charset="0"/>
                <a:cs typeface="Calibri" panose="020F0502020204030204" pitchFamily="34" charset="0"/>
              </a:rPr>
              <a:t>Out of 56,926 mature customers, 96.05% bought only once. Very few people buy again.</a:t>
            </a:r>
          </a:p>
        </p:txBody>
      </p:sp>
    </p:spTree>
    <p:extLst>
      <p:ext uri="{BB962C8B-B14F-4D97-AF65-F5344CB8AC3E}">
        <p14:creationId xmlns:p14="http://schemas.microsoft.com/office/powerpoint/2010/main" val="153406441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F939F1-01BA-A260-9A7E-6BFCB22169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C9FAE746-1360-2F24-D2BF-A1A3A3ED78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3A3A4-6A86-1F48-98F8-03CAE8D7ECD4}" type="slidenum">
              <a:rPr kumimoji="1" lang="zh-TW" altLang="en-US" smtClean="0">
                <a:latin typeface="Calibri" panose="020F0502020204030204" pitchFamily="34" charset="0"/>
                <a:cs typeface="Calibri" panose="020F0502020204030204" pitchFamily="34" charset="0"/>
              </a:rPr>
              <a:t>17</a:t>
            </a:fld>
            <a:endParaRPr kumimoji="1" lang="zh-TW" alt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7" name="圖片 6" descr="一張含有 文字, 軟體, 圖表, 螢幕擷取畫面 的圖片&#10;&#10;AI 產生的內容可能不正確。">
            <a:extLst>
              <a:ext uri="{FF2B5EF4-FFF2-40B4-BE49-F238E27FC236}">
                <a16:creationId xmlns:a16="http://schemas.microsoft.com/office/drawing/2014/main" id="{BBCE0815-E4C6-CA9A-5BC0-F9CDD1B805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3411" y="2303955"/>
            <a:ext cx="5251249" cy="3169823"/>
          </a:xfrm>
          <a:prstGeom prst="rect">
            <a:avLst/>
          </a:prstGeom>
        </p:spPr>
      </p:pic>
      <p:pic>
        <p:nvPicPr>
          <p:cNvPr id="9" name="圖片 8" descr="一張含有 文字, 螢幕擷取畫面, 圖表, 軟體 的圖片&#10;&#10;AI 產生的內容可能不正確。">
            <a:extLst>
              <a:ext uri="{FF2B5EF4-FFF2-40B4-BE49-F238E27FC236}">
                <a16:creationId xmlns:a16="http://schemas.microsoft.com/office/drawing/2014/main" id="{83D2540E-FFAB-8333-A080-AE66209241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2194403"/>
            <a:ext cx="5614220" cy="3388925"/>
          </a:xfrm>
          <a:prstGeom prst="rect">
            <a:avLst/>
          </a:prstGeom>
        </p:spPr>
      </p:pic>
      <p:sp>
        <p:nvSpPr>
          <p:cNvPr id="4" name="文字方塊 3">
            <a:extLst>
              <a:ext uri="{FF2B5EF4-FFF2-40B4-BE49-F238E27FC236}">
                <a16:creationId xmlns:a16="http://schemas.microsoft.com/office/drawing/2014/main" id="{34EB08A4-4F6F-60E0-611F-34932A265D7D}"/>
              </a:ext>
            </a:extLst>
          </p:cNvPr>
          <p:cNvSpPr txBox="1"/>
          <p:nvPr/>
        </p:nvSpPr>
        <p:spPr>
          <a:xfrm>
            <a:off x="2310407" y="717156"/>
            <a:ext cx="810423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altLang="zh-TW" b="1" dirty="0">
                <a:latin typeface="Calibri" panose="020F0502020204030204" pitchFamily="34" charset="0"/>
                <a:cs typeface="Calibri" panose="020F0502020204030204" pitchFamily="34" charset="0"/>
              </a:rPr>
              <a:t>Big Gap Between States: </a:t>
            </a:r>
          </a:p>
          <a:p>
            <a:r>
              <a:rPr lang="en" altLang="zh-TW" dirty="0">
                <a:latin typeface="Calibri" panose="020F0502020204030204" pitchFamily="34" charset="0"/>
                <a:cs typeface="Calibri" panose="020F0502020204030204" pitchFamily="34" charset="0"/>
              </a:rPr>
              <a:t>Repeat rates differ by location: SP reaches 4.26%, while distant CE drops to 2.09%—almost cut in half.</a:t>
            </a:r>
            <a:endParaRPr lang="zh-TW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217369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D31A143-EFDD-8CE5-B9C1-7437D80CA3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3A3A4-6A86-1F48-98F8-03CAE8D7ECD4}" type="slidenum">
              <a:rPr kumimoji="1" lang="zh-TW" altLang="en-US" smtClean="0">
                <a:latin typeface="Calibri" panose="020F0502020204030204" pitchFamily="34" charset="0"/>
                <a:cs typeface="Calibri" panose="020F0502020204030204" pitchFamily="34" charset="0"/>
              </a:rPr>
              <a:t>18</a:t>
            </a:fld>
            <a:endParaRPr kumimoji="1" lang="zh-TW" alt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E5B788D7-4A2E-B8D7-D3AA-F3610E2E9B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9329" y="1624438"/>
            <a:ext cx="8703335" cy="3811145"/>
          </a:xfrm>
          <a:prstGeom prst="rect">
            <a:avLst/>
          </a:prstGeom>
        </p:spPr>
      </p:pic>
      <p:sp>
        <p:nvSpPr>
          <p:cNvPr id="6" name="標題 1">
            <a:extLst>
              <a:ext uri="{FF2B5EF4-FFF2-40B4-BE49-F238E27FC236}">
                <a16:creationId xmlns:a16="http://schemas.microsoft.com/office/drawing/2014/main" id="{DA6CCF26-D646-DDD3-43E5-A27FB147C7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98875"/>
            <a:ext cx="10515600" cy="1325563"/>
          </a:xfrm>
        </p:spPr>
        <p:txBody>
          <a:bodyPr/>
          <a:lstStyle/>
          <a:p>
            <a:r>
              <a:rPr lang="en" altLang="zh-TW" b="1" dirty="0">
                <a:latin typeface="Calibri" panose="020F0502020204030204" pitchFamily="34" charset="0"/>
                <a:cs typeface="Calibri" panose="020F0502020204030204" pitchFamily="34" charset="0"/>
              </a:rPr>
              <a:t>Cross-State Shipping Ratio by State</a:t>
            </a:r>
            <a:endParaRPr kumimoji="1" lang="zh-TW" altLang="en-US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1DC1BAB8-21F4-B6B3-334C-D0FC3F8F747B}"/>
              </a:ext>
            </a:extLst>
          </p:cNvPr>
          <p:cNvSpPr txBox="1"/>
          <p:nvPr/>
        </p:nvSpPr>
        <p:spPr>
          <a:xfrm>
            <a:off x="7601487" y="3926375"/>
            <a:ext cx="476142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altLang="zh-TW" dirty="0">
                <a:latin typeface="Calibri" panose="020F0502020204030204" pitchFamily="34" charset="0"/>
                <a:cs typeface="Calibri" panose="020F0502020204030204" pitchFamily="34" charset="0"/>
              </a:rPr>
              <a:t>SP has a very low cross-state ratio of only 26%. Most orders stay inside the state.</a:t>
            </a:r>
            <a:endParaRPr lang="zh-TW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10BFB5F1-5488-558E-7847-41509F0BED6C}"/>
              </a:ext>
            </a:extLst>
          </p:cNvPr>
          <p:cNvSpPr txBox="1"/>
          <p:nvPr/>
        </p:nvSpPr>
        <p:spPr>
          <a:xfrm>
            <a:off x="2112416" y="2417168"/>
            <a:ext cx="670314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altLang="zh-TW" dirty="0">
                <a:latin typeface="Calibri" panose="020F0502020204030204" pitchFamily="34" charset="0"/>
                <a:cs typeface="Calibri" panose="020F0502020204030204" pitchFamily="34" charset="0"/>
              </a:rPr>
              <a:t>Except for SP, all other states have cross-state ratios between 86% and 100% (CE is 100%).</a:t>
            </a:r>
            <a:endParaRPr lang="zh-TW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1B5CFF21-776A-F2B5-2F14-251B937C0FD6}"/>
              </a:ext>
            </a:extLst>
          </p:cNvPr>
          <p:cNvSpPr txBox="1"/>
          <p:nvPr/>
        </p:nvSpPr>
        <p:spPr>
          <a:xfrm>
            <a:off x="965100" y="5421295"/>
            <a:ext cx="10515600" cy="10284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TW" altLang="en-US" sz="14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To analyze the data more clearly, states are grouped by their shipping patterns to observe different customer experiences: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TW" altLang="en-US" sz="1400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Pure Cross-State: </a:t>
            </a:r>
            <a:r>
              <a:rPr lang="zh-TW" altLang="en-US" sz="14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Observing remote areas that rely entirely on out-of-state shipping.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TW" altLang="en-US" sz="1400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Mixed Logistics</a:t>
            </a:r>
            <a:r>
              <a:rPr lang="zh-TW" altLang="en-US" sz="14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 Observing states with both local and out-of-state shipping options.</a:t>
            </a:r>
          </a:p>
        </p:txBody>
      </p:sp>
    </p:spTree>
    <p:extLst>
      <p:ext uri="{BB962C8B-B14F-4D97-AF65-F5344CB8AC3E}">
        <p14:creationId xmlns:p14="http://schemas.microsoft.com/office/powerpoint/2010/main" val="159240774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697709-6ED0-C420-E914-E041ABFEC8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59D3740-938B-17E2-5451-C4872F3AAF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3A3A4-6A86-1F48-98F8-03CAE8D7ECD4}" type="slidenum">
              <a:rPr kumimoji="1" lang="zh-TW" altLang="en-US" smtClean="0">
                <a:latin typeface="Calibri" panose="020F0502020204030204" pitchFamily="34" charset="0"/>
                <a:cs typeface="Calibri" panose="020F0502020204030204" pitchFamily="34" charset="0"/>
              </a:rPr>
              <a:t>19</a:t>
            </a:fld>
            <a:endParaRPr kumimoji="1" lang="zh-TW" alt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102929E3-CA0B-8B65-683E-D8C1BA0739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98875"/>
            <a:ext cx="10515600" cy="1325563"/>
          </a:xfrm>
        </p:spPr>
        <p:txBody>
          <a:bodyPr/>
          <a:lstStyle/>
          <a:p>
            <a:r>
              <a:rPr lang="en" altLang="zh-TW" b="1" dirty="0">
                <a:latin typeface="Calibri" panose="020F0502020204030204" pitchFamily="34" charset="0"/>
                <a:cs typeface="Calibri" panose="020F0502020204030204" pitchFamily="34" charset="0"/>
              </a:rPr>
              <a:t>Preliminary Freight Analysis: High Cost Barriers for Out-of-State Buyers</a:t>
            </a:r>
            <a:endParaRPr kumimoji="1" lang="zh-TW" altLang="en-US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9" name="圖片 8" descr="一張含有 文字, 字型, 繪圖, 行 的圖片&#10;&#10;AI 產生的內容可能不正確。">
            <a:extLst>
              <a:ext uri="{FF2B5EF4-FFF2-40B4-BE49-F238E27FC236}">
                <a16:creationId xmlns:a16="http://schemas.microsoft.com/office/drawing/2014/main" id="{70CB7818-C32A-31C0-922A-D05F5161D9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0565" y="1624438"/>
            <a:ext cx="6790869" cy="1782134"/>
          </a:xfrm>
          <a:prstGeom prst="rect">
            <a:avLst/>
          </a:prstGeom>
        </p:spPr>
      </p:pic>
      <p:pic>
        <p:nvPicPr>
          <p:cNvPr id="11" name="圖片 10" descr="一張含有 字型, 文字, 繪圖, 螢幕擷取畫面 的圖片&#10;&#10;AI 產生的內容可能不正確。">
            <a:extLst>
              <a:ext uri="{FF2B5EF4-FFF2-40B4-BE49-F238E27FC236}">
                <a16:creationId xmlns:a16="http://schemas.microsoft.com/office/drawing/2014/main" id="{28E59DC7-EDFB-D218-7CC6-6CF25BC28C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28696" y="3954038"/>
            <a:ext cx="6662738" cy="1748508"/>
          </a:xfrm>
          <a:prstGeom prst="rect">
            <a:avLst/>
          </a:prstGeom>
        </p:spPr>
      </p:pic>
      <p:sp>
        <p:nvSpPr>
          <p:cNvPr id="13" name="文字方塊 12">
            <a:extLst>
              <a:ext uri="{FF2B5EF4-FFF2-40B4-BE49-F238E27FC236}">
                <a16:creationId xmlns:a16="http://schemas.microsoft.com/office/drawing/2014/main" id="{8DE9DE75-19DD-A0C5-2FDA-0A07429F4F86}"/>
              </a:ext>
            </a:extLst>
          </p:cNvPr>
          <p:cNvSpPr txBox="1"/>
          <p:nvPr/>
        </p:nvSpPr>
        <p:spPr>
          <a:xfrm>
            <a:off x="1567155" y="3495639"/>
            <a:ext cx="983903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altLang="zh-TW" dirty="0">
                <a:latin typeface="Calibri" panose="020F0502020204030204" pitchFamily="34" charset="0"/>
                <a:cs typeface="Calibri" panose="020F0502020204030204" pitchFamily="34" charset="0"/>
              </a:rPr>
              <a:t>High Fees in Remote States</a:t>
            </a:r>
            <a:r>
              <a:rPr lang="en-US" altLang="zh-TW" dirty="0">
                <a:latin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en" altLang="zh-TW" dirty="0">
                <a:latin typeface="Calibri" panose="020F0502020204030204" pitchFamily="34" charset="0"/>
                <a:cs typeface="Calibri" panose="020F0502020204030204" pitchFamily="34" charset="0"/>
              </a:rPr>
              <a:t>Remote states pay high fees of 34-36 with zero cheap local options.</a:t>
            </a:r>
            <a:endParaRPr lang="zh-TW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3D926810-1614-ACFA-030D-148F6F7367EC}"/>
              </a:ext>
            </a:extLst>
          </p:cNvPr>
          <p:cNvSpPr txBox="1"/>
          <p:nvPr/>
        </p:nvSpPr>
        <p:spPr>
          <a:xfrm>
            <a:off x="1228870" y="5798145"/>
            <a:ext cx="105156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altLang="zh-TW" dirty="0">
                <a:latin typeface="Calibri" panose="020F0502020204030204" pitchFamily="34" charset="0"/>
                <a:cs typeface="Calibri" panose="020F0502020204030204" pitchFamily="34" charset="0"/>
              </a:rPr>
              <a:t>High "Cross-State Tax" in Mixed States: </a:t>
            </a:r>
            <a:r>
              <a:rPr lang="en" altLang="zh-TW" i="1" dirty="0">
                <a:latin typeface="Calibri" panose="020F0502020204030204" pitchFamily="34" charset="0"/>
                <a:cs typeface="Calibri" panose="020F0502020204030204" pitchFamily="34" charset="0"/>
              </a:rPr>
              <a:t>In PB and RN, cross-state shipping is 3-4x more expensive than local (difference of 25-27), while SP has almost no difference.</a:t>
            </a:r>
            <a:endParaRPr lang="en" altLang="zh-TW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zh-TW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7086928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482080FF-98D4-63EE-0540-665F5A4140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3A3A4-6A86-1F48-98F8-03CAE8D7ECD4}" type="slidenum">
              <a:rPr kumimoji="1" lang="zh-TW" altLang="en-US" smtClean="0">
                <a:latin typeface="Calibri" panose="020F0502020204030204" pitchFamily="34" charset="0"/>
                <a:cs typeface="Calibri" panose="020F0502020204030204" pitchFamily="34" charset="0"/>
              </a:rPr>
              <a:t>20</a:t>
            </a:fld>
            <a:endParaRPr kumimoji="1" lang="zh-TW" alt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4" name="圖片 3" descr="一張含有 字型, 文字, 繪圖, 螢幕擷取畫面 的圖片&#10;&#10;AI 產生的內容可能不正確。">
            <a:extLst>
              <a:ext uri="{FF2B5EF4-FFF2-40B4-BE49-F238E27FC236}">
                <a16:creationId xmlns:a16="http://schemas.microsoft.com/office/drawing/2014/main" id="{60F437D3-B2AD-F037-5E78-4E8A16B156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6474" y="4057412"/>
            <a:ext cx="7772400" cy="1875109"/>
          </a:xfrm>
          <a:prstGeom prst="rect">
            <a:avLst/>
          </a:prstGeom>
        </p:spPr>
      </p:pic>
      <p:pic>
        <p:nvPicPr>
          <p:cNvPr id="7" name="圖片 6" descr="一張含有 文字, 字型, 螢幕擷取畫面, 繪圖 的圖片&#10;&#10;AI 產生的內容可能不正確。">
            <a:extLst>
              <a:ext uri="{FF2B5EF4-FFF2-40B4-BE49-F238E27FC236}">
                <a16:creationId xmlns:a16="http://schemas.microsoft.com/office/drawing/2014/main" id="{747BE6E4-D43B-482B-DE04-3FF446AB42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46474" y="1624478"/>
            <a:ext cx="7772400" cy="1846481"/>
          </a:xfrm>
          <a:prstGeom prst="rect">
            <a:avLst/>
          </a:prstGeom>
        </p:spPr>
      </p:pic>
      <p:sp>
        <p:nvSpPr>
          <p:cNvPr id="8" name="標題 1">
            <a:extLst>
              <a:ext uri="{FF2B5EF4-FFF2-40B4-BE49-F238E27FC236}">
                <a16:creationId xmlns:a16="http://schemas.microsoft.com/office/drawing/2014/main" id="{88C0E41B-0ED8-25A0-6A13-4DBE8EF0D7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251949"/>
            <a:ext cx="11353800" cy="1325563"/>
          </a:xfrm>
        </p:spPr>
        <p:txBody>
          <a:bodyPr/>
          <a:lstStyle/>
          <a:p>
            <a:r>
              <a:rPr lang="en" altLang="zh-TW" b="1" dirty="0">
                <a:latin typeface="Calibri" panose="020F0502020204030204" pitchFamily="34" charset="0"/>
                <a:cs typeface="Calibri" panose="020F0502020204030204" pitchFamily="34" charset="0"/>
              </a:rPr>
              <a:t>Preliminary Freight Analysis: High Cost Barriers for Out-of-State Buyers</a:t>
            </a:r>
            <a:endParaRPr kumimoji="1" lang="zh-TW" altLang="en-US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F808FF31-2F76-C2A8-36B8-40023619E6CE}"/>
              </a:ext>
            </a:extLst>
          </p:cNvPr>
          <p:cNvSpPr txBox="1"/>
          <p:nvPr/>
        </p:nvSpPr>
        <p:spPr>
          <a:xfrm>
            <a:off x="1657924" y="3355560"/>
            <a:ext cx="872582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dirty="0">
                <a:latin typeface="Calibri" panose="020F0502020204030204" pitchFamily="34" charset="0"/>
                <a:cs typeface="Calibri" panose="020F0502020204030204" pitchFamily="34" charset="0"/>
              </a:rPr>
              <a:t>Extremely Long Wait in Remote States: Remote states face very long wait times of 23-24 days with zero fast options.</a:t>
            </a: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1FEBD18B-068A-4A50-2CEA-2A01FEF55804}"/>
              </a:ext>
            </a:extLst>
          </p:cNvPr>
          <p:cNvSpPr txBox="1"/>
          <p:nvPr/>
        </p:nvSpPr>
        <p:spPr>
          <a:xfrm>
            <a:off x="1509298" y="6075144"/>
            <a:ext cx="902307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dirty="0">
                <a:latin typeface="Calibri" panose="020F0502020204030204" pitchFamily="34" charset="0"/>
                <a:cs typeface="Calibri" panose="020F0502020204030204" pitchFamily="34" charset="0"/>
              </a:rPr>
              <a:t>Significant Delivery Gap in Mixed States: In PB and RN, cross-state delivery is 3-4x slower than local (difference of 11+ days), while SP has almost no difference.</a:t>
            </a:r>
          </a:p>
        </p:txBody>
      </p:sp>
    </p:spTree>
    <p:extLst>
      <p:ext uri="{BB962C8B-B14F-4D97-AF65-F5344CB8AC3E}">
        <p14:creationId xmlns:p14="http://schemas.microsoft.com/office/powerpoint/2010/main" val="201940432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694D7F78-6714-7D78-F395-59AE1EE251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3A3A4-6A86-1F48-98F8-03CAE8D7ECD4}" type="slidenum">
              <a:rPr kumimoji="1" lang="zh-TW" altLang="en-US" smtClean="0">
                <a:latin typeface="Calibri" panose="020F0502020204030204" pitchFamily="34" charset="0"/>
                <a:cs typeface="Calibri" panose="020F0502020204030204" pitchFamily="34" charset="0"/>
              </a:rPr>
              <a:t>21</a:t>
            </a:fld>
            <a:endParaRPr kumimoji="1" lang="zh-TW" alt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3A907012-07CD-AFD2-5354-2CC2929BD9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4662" y="1446651"/>
            <a:ext cx="6956612" cy="2158727"/>
          </a:xfrm>
          <a:prstGeom prst="rect">
            <a:avLst/>
          </a:prstGeom>
        </p:spPr>
      </p:pic>
      <p:pic>
        <p:nvPicPr>
          <p:cNvPr id="7" name="圖片 6" descr="一張含有 文字, 螢幕擷取畫面, 繪圖, 行 的圖片&#10;&#10;AI 產生的內容可能不正確。">
            <a:extLst>
              <a:ext uri="{FF2B5EF4-FFF2-40B4-BE49-F238E27FC236}">
                <a16:creationId xmlns:a16="http://schemas.microsoft.com/office/drawing/2014/main" id="{0BEB5D8D-B6C1-1594-437D-0F3984DC9A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84662" y="4197623"/>
            <a:ext cx="6956612" cy="2158727"/>
          </a:xfrm>
          <a:prstGeom prst="rect">
            <a:avLst/>
          </a:prstGeom>
        </p:spPr>
      </p:pic>
      <p:sp>
        <p:nvSpPr>
          <p:cNvPr id="8" name="標題 1">
            <a:extLst>
              <a:ext uri="{FF2B5EF4-FFF2-40B4-BE49-F238E27FC236}">
                <a16:creationId xmlns:a16="http://schemas.microsoft.com/office/drawing/2014/main" id="{7DF6620A-EBEE-2FAF-304F-A1C21B5020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5618" y="225215"/>
            <a:ext cx="10934700" cy="1325563"/>
          </a:xfrm>
        </p:spPr>
        <p:txBody>
          <a:bodyPr>
            <a:normAutofit/>
          </a:bodyPr>
          <a:lstStyle/>
          <a:p>
            <a:r>
              <a:rPr lang="en" altLang="zh-TW" sz="3600" b="1" dirty="0">
                <a:latin typeface="Calibri" panose="020F0502020204030204" pitchFamily="34" charset="0"/>
                <a:cs typeface="Calibri" panose="020F0502020204030204" pitchFamily="34" charset="0"/>
              </a:rPr>
              <a:t>Preliminary Review Analysis: Hidden Dissatisfaction for Out-of-State Buyers</a:t>
            </a:r>
            <a:endParaRPr kumimoji="1" lang="zh-TW" altLang="en-US" sz="36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1860FED1-82EC-A2CD-BABF-F189904C1824}"/>
              </a:ext>
            </a:extLst>
          </p:cNvPr>
          <p:cNvSpPr txBox="1"/>
          <p:nvPr/>
        </p:nvSpPr>
        <p:spPr>
          <a:xfrm>
            <a:off x="1343585" y="3551292"/>
            <a:ext cx="950482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altLang="zh-TW" dirty="0">
                <a:latin typeface="Calibri" panose="020F0502020204030204" pitchFamily="34" charset="0"/>
                <a:cs typeface="Calibri" panose="020F0502020204030204" pitchFamily="34" charset="0"/>
              </a:rPr>
              <a:t>Deceptive Average Scores: Average scores are very close (3.9 to 4.2) across all states, which easily hides real customer pain points.</a:t>
            </a:r>
            <a:endParaRPr lang="zh-TW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C2F556F7-A0B5-E591-033F-CFD19DC9E3B9}"/>
              </a:ext>
            </a:extLst>
          </p:cNvPr>
          <p:cNvSpPr txBox="1"/>
          <p:nvPr/>
        </p:nvSpPr>
        <p:spPr>
          <a:xfrm>
            <a:off x="1089211" y="6225085"/>
            <a:ext cx="1001357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altLang="zh-TW" dirty="0">
                <a:latin typeface="Calibri" panose="020F0502020204030204" pitchFamily="34" charset="0"/>
                <a:cs typeface="Calibri" panose="020F0502020204030204" pitchFamily="34" charset="0"/>
              </a:rPr>
              <a:t>High "Low-Rating Ratio" in Cross-State Orders: Cross-state orders (dark blue line) have much higher low-ratings. Distant CE has a 19% low-rating ratio, while SP is only 11%.</a:t>
            </a:r>
            <a:endParaRPr lang="zh-TW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42BFACAF-1224-A118-0F24-846A01054277}"/>
              </a:ext>
            </a:extLst>
          </p:cNvPr>
          <p:cNvSpPr txBox="1"/>
          <p:nvPr/>
        </p:nvSpPr>
        <p:spPr>
          <a:xfrm>
            <a:off x="10069047" y="4703522"/>
            <a:ext cx="2226608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altLang="zh-TW" sz="1200" dirty="0">
                <a:solidFill>
                  <a:srgbClr val="FF0000"/>
                </a:solidFill>
              </a:rPr>
              <a:t>To avoid misleading averages, future analysis will use "Low-Rating Ratio (1 &amp; 2 stars)" as the main metric to measure satisfaction.</a:t>
            </a:r>
            <a:endParaRPr lang="zh-TW" altLang="en-US" sz="12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6542021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306F7F55-0266-4E28-AF7A-8AA3B940B7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3A3A4-6A86-1F48-98F8-03CAE8D7ECD4}" type="slidenum">
              <a:rPr kumimoji="1" lang="zh-TW" altLang="en-US" smtClean="0">
                <a:latin typeface="Calibri" panose="020F0502020204030204" pitchFamily="34" charset="0"/>
                <a:cs typeface="Calibri" panose="020F0502020204030204" pitchFamily="34" charset="0"/>
              </a:rPr>
              <a:t>22</a:t>
            </a:fld>
            <a:endParaRPr kumimoji="1" lang="zh-TW" alt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8" name="圖片 7" descr="一張含有 螢幕擷取畫面, 行, 文字, 繪圖 的圖片&#10;&#10;AI 產生的內容可能不正確。">
            <a:extLst>
              <a:ext uri="{FF2B5EF4-FFF2-40B4-BE49-F238E27FC236}">
                <a16:creationId xmlns:a16="http://schemas.microsoft.com/office/drawing/2014/main" id="{58A617AC-E671-A891-F54E-B056C551E1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1357" y="3429000"/>
            <a:ext cx="4602138" cy="2333619"/>
          </a:xfrm>
          <a:prstGeom prst="rect">
            <a:avLst/>
          </a:prstGeom>
        </p:spPr>
      </p:pic>
      <p:sp>
        <p:nvSpPr>
          <p:cNvPr id="11" name="標題 1">
            <a:extLst>
              <a:ext uri="{FF2B5EF4-FFF2-40B4-BE49-F238E27FC236}">
                <a16:creationId xmlns:a16="http://schemas.microsoft.com/office/drawing/2014/main" id="{694AA8F6-FFD9-126D-747D-EA91539975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-92406"/>
            <a:ext cx="10934700" cy="1325563"/>
          </a:xfrm>
        </p:spPr>
        <p:txBody>
          <a:bodyPr>
            <a:normAutofit/>
          </a:bodyPr>
          <a:lstStyle/>
          <a:p>
            <a:pPr algn="ctr"/>
            <a:r>
              <a:rPr lang="en" altLang="zh-TW" sz="3600" b="1" dirty="0">
                <a:latin typeface="Calibri" panose="020F0502020204030204" pitchFamily="34" charset="0"/>
                <a:cs typeface="Calibri" panose="020F0502020204030204" pitchFamily="34" charset="0"/>
              </a:rPr>
              <a:t>Result Analysis: Mixed Shipping States</a:t>
            </a:r>
            <a:endParaRPr kumimoji="1" lang="zh-TW" altLang="en-US" sz="36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14CEF14A-CD8C-EF98-86A1-E0E29099B61F}"/>
              </a:ext>
            </a:extLst>
          </p:cNvPr>
          <p:cNvSpPr txBox="1"/>
          <p:nvPr/>
        </p:nvSpPr>
        <p:spPr>
          <a:xfrm>
            <a:off x="5230788" y="1183600"/>
            <a:ext cx="6961212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b="1" dirty="0">
                <a:latin typeface="Calibri" panose="020F0502020204030204" pitchFamily="34" charset="0"/>
                <a:cs typeface="Calibri" panose="020F0502020204030204" pitchFamily="34" charset="0"/>
              </a:rPr>
              <a:t>The Freight-Reverse Penalty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TW" altLang="en-US" b="1" dirty="0">
                <a:latin typeface="Calibri" panose="020F0502020204030204" pitchFamily="34" charset="0"/>
                <a:cs typeface="Calibri" panose="020F0502020204030204" pitchFamily="34" charset="0"/>
              </a:rPr>
              <a:t>Overall Negative Correlation</a:t>
            </a:r>
            <a:r>
              <a:rPr lang="zh-TW" altLang="en-US" dirty="0">
                <a:latin typeface="Calibri" panose="020F0502020204030204" pitchFamily="34" charset="0"/>
                <a:cs typeface="Calibri" panose="020F0502020204030204" pitchFamily="34" charset="0"/>
              </a:rPr>
              <a:t>: Higher freight-to-product cost ratio overall correlates negatively with customer retention.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zh-TW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TW" altLang="en-US" b="1" dirty="0">
                <a:latin typeface="Calibri" panose="020F0502020204030204" pitchFamily="34" charset="0"/>
                <a:cs typeface="Calibri" panose="020F0502020204030204" pitchFamily="34" charset="0"/>
              </a:rPr>
              <a:t>Cost Inversion &amp; Retention Collapse</a:t>
            </a:r>
            <a:r>
              <a:rPr lang="zh-TW" altLang="en-US" dirty="0">
                <a:latin typeface="Calibri" panose="020F0502020204030204" pitchFamily="34" charset="0"/>
                <a:cs typeface="Calibri" panose="020F0502020204030204" pitchFamily="34" charset="0"/>
              </a:rPr>
              <a:t>: ~</a:t>
            </a:r>
            <a:r>
              <a:rPr lang="en-US" altLang="zh-TW" dirty="0">
                <a:latin typeface="Calibri" panose="020F0502020204030204" pitchFamily="34" charset="0"/>
                <a:cs typeface="Calibri" panose="020F0502020204030204" pitchFamily="34" charset="0"/>
              </a:rPr>
              <a:t>10</a:t>
            </a:r>
            <a:r>
              <a:rPr lang="zh-TW" altLang="en-US" dirty="0">
                <a:latin typeface="Calibri" panose="020F0502020204030204" pitchFamily="34" charset="0"/>
                <a:cs typeface="Calibri" panose="020F0502020204030204" pitchFamily="34" charset="0"/>
              </a:rPr>
              <a:t>% of orders in PB &amp; RN face cost inversion (freight &gt; product), dragging retention down to its lowest levels .</a:t>
            </a:r>
          </a:p>
          <a:p>
            <a:pPr marL="342900" indent="-342900">
              <a:buFont typeface="+mj-lt"/>
              <a:buAutoNum type="arabicPeriod"/>
            </a:pPr>
            <a:endParaRPr lang="zh-TW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zh-TW" altLang="en-US" b="1" dirty="0">
                <a:latin typeface="Calibri" panose="020F0502020204030204" pitchFamily="34" charset="0"/>
                <a:cs typeface="Calibri" panose="020F0502020204030204" pitchFamily="34" charset="0"/>
              </a:rPr>
              <a:t>Logistical Lead Time &amp; Transit Gaps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TW" altLang="en-US" b="1" dirty="0">
                <a:latin typeface="Calibri" panose="020F0502020204030204" pitchFamily="34" charset="0"/>
                <a:cs typeface="Calibri" panose="020F0502020204030204" pitchFamily="34" charset="0"/>
              </a:rPr>
              <a:t>The 10-Day Delivery Gap</a:t>
            </a:r>
            <a:r>
              <a:rPr lang="zh-TW" altLang="en-US" dirty="0">
                <a:latin typeface="Calibri" panose="020F0502020204030204" pitchFamily="34" charset="0"/>
                <a:cs typeface="Calibri" panose="020F0502020204030204" pitchFamily="34" charset="0"/>
              </a:rPr>
              <a:t>: Low-performing </a:t>
            </a:r>
            <a:r>
              <a:rPr lang="en-US" altLang="zh-TW" dirty="0">
                <a:latin typeface="Calibri" panose="020F0502020204030204" pitchFamily="34" charset="0"/>
                <a:cs typeface="Calibri" panose="020F0502020204030204" pitchFamily="34" charset="0"/>
              </a:rPr>
              <a:t>PE/</a:t>
            </a:r>
            <a:r>
              <a:rPr lang="zh-TW" altLang="en-US" dirty="0">
                <a:latin typeface="Calibri" panose="020F0502020204030204" pitchFamily="34" charset="0"/>
                <a:cs typeface="Calibri" panose="020F0502020204030204" pitchFamily="34" charset="0"/>
              </a:rPr>
              <a:t>CE </a:t>
            </a:r>
            <a:r>
              <a:rPr lang="en-US" altLang="zh-TW" dirty="0">
                <a:latin typeface="Calibri" panose="020F0502020204030204" pitchFamily="34" charset="0"/>
                <a:cs typeface="Calibri" panose="020F0502020204030204" pitchFamily="34" charset="0"/>
              </a:rPr>
              <a:t>/</a:t>
            </a:r>
            <a:r>
              <a:rPr lang="zh-TW" altLang="en-US" dirty="0">
                <a:latin typeface="Calibri" panose="020F0502020204030204" pitchFamily="34" charset="0"/>
                <a:cs typeface="Calibri" panose="020F0502020204030204" pitchFamily="34" charset="0"/>
              </a:rPr>
              <a:t>PB face 15-day cross-state waits—over 10 days slower than local shipping (3-5 days).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zh-TW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TW" altLang="en-US" b="1" dirty="0">
                <a:latin typeface="Calibri" panose="020F0502020204030204" pitchFamily="34" charset="0"/>
                <a:cs typeface="Calibri" panose="020F0502020204030204" pitchFamily="34" charset="0"/>
              </a:rPr>
              <a:t>Slower Delivery, Lower Retention</a:t>
            </a:r>
            <a:r>
              <a:rPr lang="zh-TW" altLang="en-US" dirty="0">
                <a:latin typeface="Calibri" panose="020F0502020204030204" pitchFamily="34" charset="0"/>
                <a:cs typeface="Calibri" panose="020F0502020204030204" pitchFamily="34" charset="0"/>
              </a:rPr>
              <a:t>: Regional retention drops steadily as the transit gap between local and cross-state shipping widens.</a:t>
            </a:r>
          </a:p>
          <a:p>
            <a:pPr marL="342900" indent="-342900">
              <a:buFont typeface="+mj-lt"/>
              <a:buAutoNum type="arabicPeriod"/>
            </a:pPr>
            <a:endParaRPr lang="zh-TW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zh-TW" altLang="en-US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MT Exception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TW" altLang="en-US" dirty="0">
                <a:latin typeface="Calibri" panose="020F0502020204030204" pitchFamily="34" charset="0"/>
                <a:cs typeface="Calibri" panose="020F0502020204030204" pitchFamily="34" charset="0"/>
              </a:rPr>
              <a:t>High Friction, High Loyalty: Despite high freight costs and 14.1-day delays, MT leads retention at 4.4%, </a:t>
            </a:r>
            <a:r>
              <a:rPr lang="zh-TW" altLang="en-US" b="1" dirty="0">
                <a:latin typeface="Calibri" panose="020F0502020204030204" pitchFamily="34" charset="0"/>
                <a:cs typeface="Calibri" panose="020F0502020204030204" pitchFamily="34" charset="0"/>
              </a:rPr>
              <a:t>proving a strong captive market with rigid demand.</a:t>
            </a:r>
          </a:p>
        </p:txBody>
      </p:sp>
      <p:pic>
        <p:nvPicPr>
          <p:cNvPr id="17" name="圖片 16" descr="一張含有 行, 文字, 圖表, 繪圖 的圖片&#10;&#10;AI 產生的內容可能不正確。">
            <a:extLst>
              <a:ext uri="{FF2B5EF4-FFF2-40B4-BE49-F238E27FC236}">
                <a16:creationId xmlns:a16="http://schemas.microsoft.com/office/drawing/2014/main" id="{11A70704-70F7-C864-B85F-1D5D2683EEB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9430" y="1326737"/>
            <a:ext cx="4745993" cy="16453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399539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DE5AEC9-5FC6-4763-F2F4-7DD6FEDD9C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3A3A4-6A86-1F48-98F8-03CAE8D7ECD4}" type="slidenum">
              <a:rPr kumimoji="1" lang="zh-TW" altLang="en-US" smtClean="0"/>
              <a:t>23</a:t>
            </a:fld>
            <a:endParaRPr kumimoji="1" lang="zh-TW" altLang="en-US"/>
          </a:p>
        </p:txBody>
      </p:sp>
      <p:sp>
        <p:nvSpPr>
          <p:cNvPr id="5" name="標題 1">
            <a:extLst>
              <a:ext uri="{FF2B5EF4-FFF2-40B4-BE49-F238E27FC236}">
                <a16:creationId xmlns:a16="http://schemas.microsoft.com/office/drawing/2014/main" id="{C6A5ACBE-79E6-2AD1-95FC-9028511172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-92406"/>
            <a:ext cx="10934700" cy="1325563"/>
          </a:xfrm>
        </p:spPr>
        <p:txBody>
          <a:bodyPr>
            <a:normAutofit/>
          </a:bodyPr>
          <a:lstStyle/>
          <a:p>
            <a:pPr algn="ctr"/>
            <a:r>
              <a:rPr lang="en" altLang="zh-TW" sz="3600" b="1" dirty="0">
                <a:latin typeface="Calibri" panose="020F0502020204030204" pitchFamily="34" charset="0"/>
                <a:cs typeface="Calibri" panose="020F0502020204030204" pitchFamily="34" charset="0"/>
              </a:rPr>
              <a:t>Improvement Plan</a:t>
            </a:r>
            <a:endParaRPr kumimoji="1" lang="zh-TW" altLang="en-US" sz="36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BC280661-64F6-D6C0-395C-FFB83A61EA15}"/>
              </a:ext>
            </a:extLst>
          </p:cNvPr>
          <p:cNvSpPr txBox="1"/>
          <p:nvPr/>
        </p:nvSpPr>
        <p:spPr>
          <a:xfrm>
            <a:off x="628650" y="1195453"/>
            <a:ext cx="9549539" cy="54508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" altLang="zh-TW" b="1" dirty="0">
                <a:latin typeface="Calibri" panose="020F0502020204030204" pitchFamily="34" charset="0"/>
                <a:cs typeface="Calibri" panose="020F0502020204030204" pitchFamily="34" charset="0"/>
              </a:rPr>
              <a:t>Group 1: RN, PE, PB, CE (High Freight Costs, Slow Delivery)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" altLang="zh-TW" b="1" dirty="0">
                <a:latin typeface="Calibri" panose="020F0502020204030204" pitchFamily="34" charset="0"/>
                <a:cs typeface="Calibri" panose="020F0502020204030204" pitchFamily="34" charset="0"/>
              </a:rPr>
              <a:t>Give Free Shipping</a:t>
            </a:r>
            <a:r>
              <a:rPr lang="en" altLang="zh-TW" dirty="0">
                <a:latin typeface="Calibri" panose="020F0502020204030204" pitchFamily="34" charset="0"/>
                <a:cs typeface="Calibri" panose="020F0502020204030204" pitchFamily="34" charset="0"/>
              </a:rPr>
              <a:t>: Offer free shipping to stop customers from paying more for delivery than the product itself.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" altLang="zh-TW" b="1" dirty="0">
                <a:latin typeface="Calibri" panose="020F0502020204030204" pitchFamily="34" charset="0"/>
                <a:cs typeface="Calibri" panose="020F0502020204030204" pitchFamily="34" charset="0"/>
              </a:rPr>
              <a:t>Speed Up Delivery</a:t>
            </a:r>
            <a:r>
              <a:rPr lang="en" altLang="zh-TW" dirty="0">
                <a:latin typeface="Calibri" panose="020F0502020204030204" pitchFamily="34" charset="0"/>
                <a:cs typeface="Calibri" panose="020F0502020204030204" pitchFamily="34" charset="0"/>
              </a:rPr>
              <a:t>: Work with faster shippers to cut down the long 15-day waiting time.</a:t>
            </a:r>
          </a:p>
          <a:p>
            <a:pPr>
              <a:lnSpc>
                <a:spcPct val="150000"/>
              </a:lnSpc>
              <a:buNone/>
            </a:pPr>
            <a:r>
              <a:rPr lang="en" altLang="zh-TW" b="1" dirty="0">
                <a:latin typeface="Calibri" panose="020F0502020204030204" pitchFamily="34" charset="0"/>
                <a:cs typeface="Calibri" panose="020F0502020204030204" pitchFamily="34" charset="0"/>
              </a:rPr>
              <a:t>Group 2: RJ &amp; RS (Good Repeat Rates, But Can Be Better)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" altLang="zh-TW" b="1" dirty="0">
                <a:latin typeface="Calibri" panose="020F0502020204030204" pitchFamily="34" charset="0"/>
                <a:cs typeface="Calibri" panose="020F0502020204030204" pitchFamily="34" charset="0"/>
              </a:rPr>
              <a:t>Keep Them Happy</a:t>
            </a:r>
            <a:r>
              <a:rPr lang="en" altLang="zh-TW" dirty="0">
                <a:latin typeface="Calibri" panose="020F0502020204030204" pitchFamily="34" charset="0"/>
                <a:cs typeface="Calibri" panose="020F0502020204030204" pitchFamily="34" charset="0"/>
              </a:rPr>
              <a:t>: These states already have good repeat buyers, but we must not let them wait too long.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" altLang="zh-TW" b="1" dirty="0">
                <a:latin typeface="Calibri" panose="020F0502020204030204" pitchFamily="34" charset="0"/>
                <a:cs typeface="Calibri" panose="020F0502020204030204" pitchFamily="34" charset="0"/>
              </a:rPr>
              <a:t>Deliver Faster</a:t>
            </a:r>
            <a:r>
              <a:rPr lang="en" altLang="zh-TW" dirty="0">
                <a:latin typeface="Calibri" panose="020F0502020204030204" pitchFamily="34" charset="0"/>
                <a:cs typeface="Calibri" panose="020F0502020204030204" pitchFamily="34" charset="0"/>
              </a:rPr>
              <a:t>: Improve cross-state shipping speeds so customers don't have to wait so many days.</a:t>
            </a:r>
          </a:p>
          <a:p>
            <a:pPr>
              <a:lnSpc>
                <a:spcPct val="150000"/>
              </a:lnSpc>
              <a:buNone/>
            </a:pPr>
            <a:r>
              <a:rPr lang="en" altLang="zh-TW" b="1" dirty="0">
                <a:latin typeface="Calibri" panose="020F0502020204030204" pitchFamily="34" charset="0"/>
                <a:cs typeface="Calibri" panose="020F0502020204030204" pitchFamily="34" charset="0"/>
              </a:rPr>
              <a:t>Group 3: MT (Mato Grosso — Loyal Buyers with Real Needs)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" altLang="zh-TW" b="1" dirty="0">
                <a:latin typeface="Calibri" panose="020F0502020204030204" pitchFamily="34" charset="0"/>
                <a:cs typeface="Calibri" panose="020F0502020204030204" pitchFamily="34" charset="0"/>
              </a:rPr>
              <a:t>Keep Popular Items in Stock</a:t>
            </a:r>
            <a:r>
              <a:rPr lang="en" altLang="zh-TW" dirty="0">
                <a:latin typeface="Calibri" panose="020F0502020204030204" pitchFamily="34" charset="0"/>
                <a:cs typeface="Calibri" panose="020F0502020204030204" pitchFamily="34" charset="0"/>
              </a:rPr>
              <a:t>: Always have enough stock for the specific products they need and buy most</a:t>
            </a:r>
            <a:r>
              <a:rPr lang="en" altLang="zh-TW" dirty="0"/>
              <a:t>, such as </a:t>
            </a:r>
            <a:r>
              <a:rPr lang="en" altLang="zh-TW" b="1" dirty="0"/>
              <a:t>health &amp; beauty</a:t>
            </a:r>
            <a:r>
              <a:rPr lang="en" altLang="zh-TW" dirty="0"/>
              <a:t> and </a:t>
            </a:r>
            <a:r>
              <a:rPr lang="en" altLang="zh-TW" b="1" dirty="0"/>
              <a:t>sports &amp; leisure</a:t>
            </a:r>
            <a:r>
              <a:rPr lang="en" altLang="zh-TW" dirty="0"/>
              <a:t> products.</a:t>
            </a:r>
            <a:endParaRPr lang="en" altLang="zh-TW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" altLang="zh-TW" b="1" dirty="0">
                <a:latin typeface="Calibri" panose="020F0502020204030204" pitchFamily="34" charset="0"/>
                <a:cs typeface="Calibri" panose="020F0502020204030204" pitchFamily="34" charset="0"/>
              </a:rPr>
              <a:t>Offer Shipping Discounts</a:t>
            </a:r>
            <a:r>
              <a:rPr lang="en" altLang="zh-TW" dirty="0">
                <a:latin typeface="Calibri" panose="020F0502020204030204" pitchFamily="34" charset="0"/>
                <a:cs typeface="Calibri" panose="020F0502020204030204" pitchFamily="34" charset="0"/>
              </a:rPr>
              <a:t>: Give them special shipping discounts to thank and keep these loyal, high-value customers.</a:t>
            </a:r>
          </a:p>
        </p:txBody>
      </p:sp>
      <p:pic>
        <p:nvPicPr>
          <p:cNvPr id="8" name="圖片 7" descr="一張含有 文字, 螢幕擷取畫面, 字型, 數字 的圖片&#10;&#10;AI 產生的內容可能不正確。">
            <a:extLst>
              <a:ext uri="{FF2B5EF4-FFF2-40B4-BE49-F238E27FC236}">
                <a16:creationId xmlns:a16="http://schemas.microsoft.com/office/drawing/2014/main" id="{1C476F60-FE8B-C7B5-1481-6A62178718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8189" y="4451888"/>
            <a:ext cx="1885950" cy="1682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372268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A22470-86A8-650E-F07E-1E03B1FC41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6FE944FC-69DC-EA8F-5E09-1A94905268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3A3A4-6A86-1F48-98F8-03CAE8D7ECD4}" type="slidenum">
              <a:rPr kumimoji="1" lang="zh-TW" altLang="en-US" smtClean="0">
                <a:latin typeface="Calibri" panose="020F0502020204030204" pitchFamily="34" charset="0"/>
                <a:cs typeface="Calibri" panose="020F0502020204030204" pitchFamily="34" charset="0"/>
              </a:rPr>
              <a:t>24</a:t>
            </a:fld>
            <a:endParaRPr kumimoji="1" lang="zh-TW" alt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標題 1">
            <a:extLst>
              <a:ext uri="{FF2B5EF4-FFF2-40B4-BE49-F238E27FC236}">
                <a16:creationId xmlns:a16="http://schemas.microsoft.com/office/drawing/2014/main" id="{D47C781F-99D3-2717-230B-EB1D1D0C71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-92406"/>
            <a:ext cx="10934700" cy="1325563"/>
          </a:xfrm>
        </p:spPr>
        <p:txBody>
          <a:bodyPr>
            <a:normAutofit/>
          </a:bodyPr>
          <a:lstStyle/>
          <a:p>
            <a:pPr algn="ctr"/>
            <a:r>
              <a:rPr lang="en" altLang="zh-TW" sz="3600" b="1" dirty="0">
                <a:latin typeface="Calibri" panose="020F0502020204030204" pitchFamily="34" charset="0"/>
                <a:cs typeface="Calibri" panose="020F0502020204030204" pitchFamily="34" charset="0"/>
              </a:rPr>
              <a:t>Result Analysis: Pure Cross-State Shipping States</a:t>
            </a:r>
            <a:endParaRPr kumimoji="1" lang="zh-TW" altLang="en-US" sz="36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4" name="圖片 3" descr="一張含有 行, 圖表, 文字, 繪圖 的圖片&#10;&#10;AI 產生的內容可能不正確。">
            <a:extLst>
              <a:ext uri="{FF2B5EF4-FFF2-40B4-BE49-F238E27FC236}">
                <a16:creationId xmlns:a16="http://schemas.microsoft.com/office/drawing/2014/main" id="{354383A3-EBA7-3A3C-93B7-EFC6A0E3FC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046" y="1233157"/>
            <a:ext cx="6096003" cy="2142801"/>
          </a:xfrm>
          <a:prstGeom prst="rect">
            <a:avLst/>
          </a:prstGeom>
        </p:spPr>
      </p:pic>
      <p:pic>
        <p:nvPicPr>
          <p:cNvPr id="6" name="圖片 5" descr="一張含有 螢幕擷取畫面, 行, 文字, 繪圖 的圖片&#10;&#10;AI 產生的內容可能不正確。">
            <a:extLst>
              <a:ext uri="{FF2B5EF4-FFF2-40B4-BE49-F238E27FC236}">
                <a16:creationId xmlns:a16="http://schemas.microsoft.com/office/drawing/2014/main" id="{2EC41520-29EE-CE00-9FC4-BAE54C37553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3778" y="3682387"/>
            <a:ext cx="5972537" cy="2948467"/>
          </a:xfrm>
          <a:prstGeom prst="rect">
            <a:avLst/>
          </a:prstGeom>
        </p:spPr>
      </p:pic>
      <p:sp>
        <p:nvSpPr>
          <p:cNvPr id="9" name="文字方塊 8">
            <a:extLst>
              <a:ext uri="{FF2B5EF4-FFF2-40B4-BE49-F238E27FC236}">
                <a16:creationId xmlns:a16="http://schemas.microsoft.com/office/drawing/2014/main" id="{5E7047A4-FC4A-F65E-3AC7-C160524970CA}"/>
              </a:ext>
            </a:extLst>
          </p:cNvPr>
          <p:cNvSpPr txBox="1"/>
          <p:nvPr/>
        </p:nvSpPr>
        <p:spPr>
          <a:xfrm>
            <a:off x="6705600" y="1324846"/>
            <a:ext cx="5324354" cy="49398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TW" altLang="en-US" b="1" dirty="0"/>
              <a:t>The AC &amp; RO Growth Opportunity: </a:t>
            </a:r>
            <a:r>
              <a:rPr lang="en" altLang="zh-TW" dirty="0"/>
              <a:t>They face high shipping costs but average waiting times. Surprisingly, their repeat rates are outstanding (6.56% and 5.59%).</a:t>
            </a:r>
          </a:p>
          <a:p>
            <a:pPr>
              <a:lnSpc>
                <a:spcPct val="150000"/>
              </a:lnSpc>
            </a:pPr>
            <a:endParaRPr lang="en" altLang="zh-TW" dirty="0"/>
          </a:p>
          <a:p>
            <a:pPr>
              <a:lnSpc>
                <a:spcPct val="150000"/>
              </a:lnSpc>
            </a:pPr>
            <a:r>
              <a:rPr lang="en" altLang="zh-TW" b="1" dirty="0"/>
              <a:t>Delivery Speed is Key:</a:t>
            </a:r>
            <a:r>
              <a:rPr lang="zh-TW" altLang="en-US" b="1" dirty="0"/>
              <a:t> </a:t>
            </a:r>
            <a:r>
              <a:rPr lang="en" altLang="zh-TW" dirty="0"/>
              <a:t>Delivery speed matters more than the freight cost ratio. </a:t>
            </a:r>
            <a:r>
              <a:rPr lang="en" altLang="zh-TW" b="1" dirty="0"/>
              <a:t>PA and AL </a:t>
            </a:r>
            <a:r>
              <a:rPr lang="en" altLang="zh-TW" dirty="0"/>
              <a:t>have similar or better freight cost ratios than TO, but much longer wait times (18–20 days vs. TO's 13.8 days). This long wait drags their repeat rate down to ~3%.</a:t>
            </a: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12258595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6EC0ED-CD62-66FF-94F7-3959A6A427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6221EFF-DFB5-08A1-2E26-3EC1078E7C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3A3A4-6A86-1F48-98F8-03CAE8D7ECD4}" type="slidenum">
              <a:rPr kumimoji="1" lang="zh-TW" altLang="en-US" smtClean="0"/>
              <a:t>25</a:t>
            </a:fld>
            <a:endParaRPr kumimoji="1" lang="zh-TW" altLang="en-US"/>
          </a:p>
        </p:txBody>
      </p:sp>
      <p:sp>
        <p:nvSpPr>
          <p:cNvPr id="5" name="標題 1">
            <a:extLst>
              <a:ext uri="{FF2B5EF4-FFF2-40B4-BE49-F238E27FC236}">
                <a16:creationId xmlns:a16="http://schemas.microsoft.com/office/drawing/2014/main" id="{71C8BF7A-6859-CEE2-CE2D-91DFEAFF59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49" y="136525"/>
            <a:ext cx="10934700" cy="1325563"/>
          </a:xfrm>
        </p:spPr>
        <p:txBody>
          <a:bodyPr>
            <a:normAutofit/>
          </a:bodyPr>
          <a:lstStyle/>
          <a:p>
            <a:pPr algn="ctr"/>
            <a:r>
              <a:rPr lang="en" altLang="zh-TW" sz="3600" b="1" dirty="0">
                <a:latin typeface="Calibri" panose="020F0502020204030204" pitchFamily="34" charset="0"/>
                <a:cs typeface="Calibri" panose="020F0502020204030204" pitchFamily="34" charset="0"/>
              </a:rPr>
              <a:t>Improvement Plan</a:t>
            </a:r>
            <a:endParaRPr kumimoji="1" lang="zh-TW" altLang="en-US" sz="36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A9AD1959-828F-E78C-CFB1-0D047B4EEC76}"/>
              </a:ext>
            </a:extLst>
          </p:cNvPr>
          <p:cNvSpPr txBox="1"/>
          <p:nvPr/>
        </p:nvSpPr>
        <p:spPr>
          <a:xfrm>
            <a:off x="1636852" y="2314316"/>
            <a:ext cx="8918295" cy="2960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TW" altLang="en-US" b="1" dirty="0"/>
              <a:t>Group 1: AC &amp; RO (High Costs, High Loyalty)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TW" altLang="en-US" b="1" dirty="0"/>
              <a:t>Give Shipping Discounts</a:t>
            </a:r>
            <a:r>
              <a:rPr lang="zh-TW" altLang="en-US" dirty="0"/>
              <a:t>: Since they are already highly loyal, lowering their shipping costs will easily get them to buy much more.</a:t>
            </a:r>
          </a:p>
          <a:p>
            <a:pPr>
              <a:lnSpc>
                <a:spcPct val="150000"/>
              </a:lnSpc>
            </a:pPr>
            <a:endParaRPr lang="zh-TW" altLang="en-US" b="1" dirty="0"/>
          </a:p>
          <a:p>
            <a:pPr>
              <a:lnSpc>
                <a:spcPct val="150000"/>
              </a:lnSpc>
            </a:pPr>
            <a:r>
              <a:rPr lang="zh-TW" altLang="en-US" b="1" dirty="0"/>
              <a:t>Group 2: PA &amp; AL (Slow Speed, Lower Repeat Rates)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TW" altLang="en-US" b="1" dirty="0"/>
              <a:t>Deliver Faster</a:t>
            </a:r>
            <a:r>
              <a:rPr lang="zh-TW" altLang="en-US" dirty="0"/>
              <a:t>: Work with faster shippers to cut down their long 18–20 day waiting times closer to TO's 13-day level.</a:t>
            </a:r>
          </a:p>
        </p:txBody>
      </p:sp>
    </p:spTree>
    <p:extLst>
      <p:ext uri="{BB962C8B-B14F-4D97-AF65-F5344CB8AC3E}">
        <p14:creationId xmlns:p14="http://schemas.microsoft.com/office/powerpoint/2010/main" val="170559703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BDBC905-7508-9408-E9B8-911B33D2A1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3A3A4-6A86-1F48-98F8-03CAE8D7ECD4}" type="slidenum">
              <a:rPr kumimoji="1" lang="zh-TW" altLang="en-US" smtClean="0"/>
              <a:t>26</a:t>
            </a:fld>
            <a:endParaRPr kumimoji="1" lang="zh-TW" altLang="en-US"/>
          </a:p>
        </p:txBody>
      </p:sp>
      <p:sp>
        <p:nvSpPr>
          <p:cNvPr id="5" name="標題 1">
            <a:extLst>
              <a:ext uri="{FF2B5EF4-FFF2-40B4-BE49-F238E27FC236}">
                <a16:creationId xmlns:a16="http://schemas.microsoft.com/office/drawing/2014/main" id="{42CA0BFC-C9C1-3FDC-C5FD-5BDD809D53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0"/>
            <a:ext cx="10934700" cy="1325563"/>
          </a:xfrm>
        </p:spPr>
        <p:txBody>
          <a:bodyPr>
            <a:normAutofit/>
          </a:bodyPr>
          <a:lstStyle/>
          <a:p>
            <a:pPr algn="ctr"/>
            <a:r>
              <a:rPr lang="en" altLang="zh-TW" sz="3600" b="1" dirty="0">
                <a:latin typeface="Calibri" panose="020F0502020204030204" pitchFamily="34" charset="0"/>
                <a:cs typeface="Calibri" panose="020F0502020204030204" pitchFamily="34" charset="0"/>
              </a:rPr>
              <a:t>No Clear Link Between Bad Reviews &amp; Retention </a:t>
            </a:r>
            <a:endParaRPr kumimoji="1" lang="zh-TW" altLang="en-US" sz="36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7" name="圖片 6" descr="一張含有 文字, 繪圖, 行, 圖表 的圖片&#10;&#10;AI 產生的內容可能不正確。">
            <a:extLst>
              <a:ext uri="{FF2B5EF4-FFF2-40B4-BE49-F238E27FC236}">
                <a16:creationId xmlns:a16="http://schemas.microsoft.com/office/drawing/2014/main" id="{D37C0834-95C0-82EA-8859-8D7FB05192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313" y="1602566"/>
            <a:ext cx="7772400" cy="2047292"/>
          </a:xfrm>
          <a:prstGeom prst="rect">
            <a:avLst/>
          </a:prstGeom>
        </p:spPr>
      </p:pic>
      <p:pic>
        <p:nvPicPr>
          <p:cNvPr id="9" name="圖片 8" descr="一張含有 繪圖, 行, 字型, 文字 的圖片&#10;&#10;AI 產生的內容可能不正確。">
            <a:extLst>
              <a:ext uri="{FF2B5EF4-FFF2-40B4-BE49-F238E27FC236}">
                <a16:creationId xmlns:a16="http://schemas.microsoft.com/office/drawing/2014/main" id="{D90B3D15-8575-4696-C8BA-F004F91E15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313" y="3946961"/>
            <a:ext cx="7772400" cy="2039980"/>
          </a:xfrm>
          <a:prstGeom prst="rect">
            <a:avLst/>
          </a:prstGeom>
        </p:spPr>
      </p:pic>
      <p:sp>
        <p:nvSpPr>
          <p:cNvPr id="11" name="文字方塊 10">
            <a:extLst>
              <a:ext uri="{FF2B5EF4-FFF2-40B4-BE49-F238E27FC236}">
                <a16:creationId xmlns:a16="http://schemas.microsoft.com/office/drawing/2014/main" id="{179984B3-2105-5BA9-F517-CEA70AABB4C4}"/>
              </a:ext>
            </a:extLst>
          </p:cNvPr>
          <p:cNvSpPr txBox="1"/>
          <p:nvPr/>
        </p:nvSpPr>
        <p:spPr>
          <a:xfrm>
            <a:off x="7897373" y="2527227"/>
            <a:ext cx="4163027" cy="25423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TW" altLang="en-US" b="1" dirty="0">
                <a:latin typeface="Calibri" panose="020F0502020204030204" pitchFamily="34" charset="0"/>
                <a:cs typeface="Calibri" panose="020F0502020204030204" pitchFamily="34" charset="0"/>
              </a:rPr>
              <a:t>States with high bad reviews often have better repeat rates.</a:t>
            </a:r>
            <a:endParaRPr lang="en-US" altLang="zh-TW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" altLang="zh-TW" b="1" dirty="0">
                <a:latin typeface="Calibri" panose="020F0502020204030204" pitchFamily="34" charset="0"/>
                <a:cs typeface="Calibri" panose="020F0502020204030204" pitchFamily="34" charset="0"/>
              </a:rPr>
              <a:t>A bad review may also be tied to a specific product's quality or a single seller's service</a:t>
            </a:r>
            <a:r>
              <a:rPr lang="en" altLang="zh-TW" dirty="0">
                <a:latin typeface="Calibri" panose="020F0502020204030204" pitchFamily="34" charset="0"/>
                <a:cs typeface="Calibri" panose="020F0502020204030204" pitchFamily="34" charset="0"/>
              </a:rPr>
              <a:t>, rather than just the platform's shipping experience.</a:t>
            </a:r>
            <a:endParaRPr lang="zh-TW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5208406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81068B-FB30-54A3-447E-DCF63645A6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BFF0115-226A-7A33-6ECB-D1739B02B3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" altLang="zh-TW" b="1" dirty="0">
                <a:latin typeface="Calibri" panose="020F0502020204030204" pitchFamily="34" charset="0"/>
                <a:cs typeface="Calibri" panose="020F0502020204030204" pitchFamily="34" charset="0"/>
              </a:rPr>
              <a:t>04. Conclusions</a:t>
            </a:r>
            <a:endParaRPr kumimoji="1" lang="zh-TW" altLang="en-US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13AE9CD-3E6E-3D36-2020-15584BE79C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3A3A4-6A86-1F48-98F8-03CAE8D7ECD4}" type="slidenum">
              <a:rPr kumimoji="1" lang="zh-TW" altLang="en-US" smtClean="0"/>
              <a:t>27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60205106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B66C89D-39F6-644C-1757-4094BDDFE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3A3A4-6A86-1F48-98F8-03CAE8D7ECD4}" type="slidenum">
              <a:rPr kumimoji="1" lang="zh-TW" altLang="en-US" smtClean="0"/>
              <a:t>28</a:t>
            </a:fld>
            <a:endParaRPr kumimoji="1" lang="zh-TW" altLang="en-US"/>
          </a:p>
        </p:txBody>
      </p:sp>
      <p:sp>
        <p:nvSpPr>
          <p:cNvPr id="5" name="標題 1">
            <a:extLst>
              <a:ext uri="{FF2B5EF4-FFF2-40B4-BE49-F238E27FC236}">
                <a16:creationId xmlns:a16="http://schemas.microsoft.com/office/drawing/2014/main" id="{267DF0AC-89C5-3828-4D29-81BAA46B1F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136525"/>
            <a:ext cx="10934700" cy="1325563"/>
          </a:xfrm>
        </p:spPr>
        <p:txBody>
          <a:bodyPr>
            <a:normAutofit/>
          </a:bodyPr>
          <a:lstStyle/>
          <a:p>
            <a:pPr algn="ctr"/>
            <a:r>
              <a:rPr lang="en" altLang="zh-TW" sz="3600" b="1" dirty="0">
                <a:latin typeface="Calibri" panose="020F0502020204030204" pitchFamily="34" charset="0"/>
                <a:cs typeface="Calibri" panose="020F0502020204030204" pitchFamily="34" charset="0"/>
              </a:rPr>
              <a:t>Conclusion</a:t>
            </a:r>
            <a:endParaRPr kumimoji="1" lang="zh-TW" altLang="en-US" sz="36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72DB455F-4236-D0B4-32B8-EE694F9B7EA0}"/>
              </a:ext>
            </a:extLst>
          </p:cNvPr>
          <p:cNvSpPr txBox="1"/>
          <p:nvPr/>
        </p:nvSpPr>
        <p:spPr>
          <a:xfrm>
            <a:off x="1020416" y="1559797"/>
            <a:ext cx="10333383" cy="37888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TW" altLang="en-US" b="1" dirty="0">
                <a:latin typeface="Calibri" panose="020F0502020204030204" pitchFamily="34" charset="0"/>
                <a:cs typeface="Calibri" panose="020F0502020204030204" pitchFamily="34" charset="0"/>
              </a:rPr>
              <a:t>From an e-commerce perspective, resolving shipping-related pain points is the most actionable and effective way to maintain or boost customer repurchase intent. 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zh-TW" altLang="en-US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TW" altLang="en-US" b="1" dirty="0">
                <a:latin typeface="Calibri" panose="020F0502020204030204" pitchFamily="34" charset="0"/>
                <a:cs typeface="Calibri" panose="020F0502020204030204" pitchFamily="34" charset="0"/>
              </a:rPr>
              <a:t>By assessing each state's current performance, we can implement regional solutions and unlock high-potential markets:  </a:t>
            </a:r>
            <a:endParaRPr lang="en-US" altLang="zh-TW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800100" lvl="1" indent="-342900">
              <a:lnSpc>
                <a:spcPct val="150000"/>
              </a:lnSpc>
              <a:buFont typeface="+mj-lt"/>
              <a:buAutoNum type="arabicPeriod"/>
            </a:pPr>
            <a:r>
              <a:rPr lang="zh-TW" altLang="en-US" dirty="0">
                <a:latin typeface="Calibri" panose="020F0502020204030204" pitchFamily="34" charset="0"/>
                <a:cs typeface="Calibri" panose="020F0502020204030204" pitchFamily="34" charset="0"/>
              </a:rPr>
              <a:t>AC &amp; RO (High-Loyalty Potential): They maintain outstanding repeat rates (~6%) despite high costs. Lowering their shipping barriers with discounts will easily capture more high-value demand.  </a:t>
            </a:r>
            <a:endParaRPr lang="en-US" altLang="zh-TW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800100" lvl="1" indent="-342900">
              <a:lnSpc>
                <a:spcPct val="150000"/>
              </a:lnSpc>
              <a:buFont typeface="+mj-lt"/>
              <a:buAutoNum type="arabicPeriod"/>
            </a:pPr>
            <a:r>
              <a:rPr lang="zh-TW" altLang="en-US" dirty="0">
                <a:latin typeface="Calibri" panose="020F0502020204030204" pitchFamily="34" charset="0"/>
                <a:cs typeface="Calibri" panose="020F0502020204030204" pitchFamily="34" charset="0"/>
              </a:rPr>
              <a:t>PA &amp; AL (Slow Speed Bottleneck): Long 18–20 day waits drag repeat rates down to ~3%. Improving logistics speed is critical to stop customer loss. </a:t>
            </a: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16B3BBBF-197D-4CDF-23BD-FC7226DA11EF}"/>
              </a:ext>
            </a:extLst>
          </p:cNvPr>
          <p:cNvSpPr txBox="1"/>
          <p:nvPr/>
        </p:nvSpPr>
        <p:spPr>
          <a:xfrm>
            <a:off x="1868556" y="5615582"/>
            <a:ext cx="926327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dirty="0"/>
              <a:t>Power BI link:</a:t>
            </a:r>
          </a:p>
          <a:p>
            <a:r>
              <a:rPr lang="zh-TW" altLang="en-US" dirty="0"/>
              <a:t>https://app.powerbi.com/groups/me/reports/ff24b445-d81a-42b7-91c9-d3b3de96930a/f99be58fba1f45a59d78?experience=power-bi</a:t>
            </a:r>
          </a:p>
        </p:txBody>
      </p:sp>
    </p:spTree>
    <p:extLst>
      <p:ext uri="{BB962C8B-B14F-4D97-AF65-F5344CB8AC3E}">
        <p14:creationId xmlns:p14="http://schemas.microsoft.com/office/powerpoint/2010/main" val="29039815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3991</TotalTime>
  <Words>1890</Words>
  <Application>Microsoft Macintosh PowerPoint</Application>
  <PresentationFormat>寬螢幕</PresentationFormat>
  <Paragraphs>196</Paragraphs>
  <Slides>28</Slides>
  <Notes>9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28</vt:i4>
      </vt:variant>
    </vt:vector>
  </HeadingPairs>
  <TitlesOfParts>
    <vt:vector size="33" baseType="lpstr">
      <vt:lpstr>Aptos</vt:lpstr>
      <vt:lpstr>Aptos Display</vt:lpstr>
      <vt:lpstr>Arial</vt:lpstr>
      <vt:lpstr>Calibri</vt:lpstr>
      <vt:lpstr>Office 佈景主題</vt:lpstr>
      <vt:lpstr>Driving Repurchase Intent: Olist Regional Logistics &amp; Loyalty Analysis</vt:lpstr>
      <vt:lpstr>01. Dataset Overview &amp; Research Objectives</vt:lpstr>
      <vt:lpstr>Dataset Overview</vt:lpstr>
      <vt:lpstr>PowerPoint 簡報</vt:lpstr>
      <vt:lpstr>Motivation:  Low Repeat Purchase and State-Level Variation</vt:lpstr>
      <vt:lpstr>State-Level Logistics &amp; Customer Retention Analysis</vt:lpstr>
      <vt:lpstr>02. Data Preparation &amp; Cohort Selection</vt:lpstr>
      <vt:lpstr>Data Pipeline</vt:lpstr>
      <vt:lpstr>Step 1. Defining "Effective Orders"</vt:lpstr>
      <vt:lpstr>Step 2. Customer Definition &amp; Cohort Selection</vt:lpstr>
      <vt:lpstr>Step 3. Cross-State Order Definition</vt:lpstr>
      <vt:lpstr>Step 4. Delivery Time / Shipping Duration</vt:lpstr>
      <vt:lpstr>Step 4. Freight Cost / Shipping Fee Filters</vt:lpstr>
      <vt:lpstr>Step 4. Review Score / Customer Rating Filters</vt:lpstr>
      <vt:lpstr>03. Preliminary Analysis &amp; Regional Retention Drivers</vt:lpstr>
      <vt:lpstr>Preliminary Analysis: Geographic Disparity in Customer Density &amp; Retention Rates</vt:lpstr>
      <vt:lpstr>PowerPoint 簡報</vt:lpstr>
      <vt:lpstr>Cross-State Shipping Ratio by State</vt:lpstr>
      <vt:lpstr>Preliminary Freight Analysis: High Cost Barriers for Out-of-State Buyers</vt:lpstr>
      <vt:lpstr>Preliminary Freight Analysis: High Cost Barriers for Out-of-State Buyers</vt:lpstr>
      <vt:lpstr>Preliminary Review Analysis: Hidden Dissatisfaction for Out-of-State Buyers</vt:lpstr>
      <vt:lpstr>Result Analysis: Mixed Shipping States</vt:lpstr>
      <vt:lpstr>Improvement Plan</vt:lpstr>
      <vt:lpstr>Result Analysis: Pure Cross-State Shipping States</vt:lpstr>
      <vt:lpstr>Improvement Plan</vt:lpstr>
      <vt:lpstr>No Clear Link Between Bad Reviews &amp; Retention </vt:lpstr>
      <vt:lpstr>04. Conclusions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翁寧緗</dc:creator>
  <cp:lastModifiedBy>翁寧緗</cp:lastModifiedBy>
  <cp:revision>19</cp:revision>
  <dcterms:created xsi:type="dcterms:W3CDTF">2026-06-05T09:05:48Z</dcterms:created>
  <dcterms:modified xsi:type="dcterms:W3CDTF">2026-07-15T04:12:57Z</dcterms:modified>
</cp:coreProperties>
</file>